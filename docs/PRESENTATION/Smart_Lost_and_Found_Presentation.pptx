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b156ed8-b74f-86c9-a66c-24bab7addb56}">
          <p14:sldIdLst>
            <p14:sldId id="256"/>
            <p14:sldId id="257"/>
            <p14:sldId id="258"/>
            <p14:sldId id="259"/>
          </p14:sldIdLst>
        </p14:section>
        <p14:section name="Design &amp; Implementation" id="{8dc35020-e465-2a71-7eed-7554f83e5b5a}">
          <p14:sldIdLst>
            <p14:sldId id="260"/>
            <p14:sldId id="261"/>
            <p14:sldId id="262"/>
            <p14:sldId id="263"/>
            <p14:sldId id="264"/>
          </p14:sldIdLst>
        </p14:section>
        <p14:section name="Results &amp; Conclusion" id="{b8142813-78cd-476d-83a9-023c3ce326f8}">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present Smart Lost &amp; Found, a desktop application that digitizes lost-and-found handling on our campus. Built with Core Java 17, Swing and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Five-member team under the guidance of Er. Ram Babu Buri. Each member owned one module: database, authentication, student panel, admin panel, and testing/packaging.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finding a lost ID card or calculator depends on notice boards and WhatsApp groups. There is no searchability and no record of whether the item reached its owner. Our objectives address each of these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pillars: a student portal, an admin console, a transparent matching engine, and cloud connection management so shared database slots are always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plain Java 17 with Swing for the UI and JDBC to MySQL, so no heavy framework is needed. jpackage bundles a private runtime, so users just double-click the .exe.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layering keeps the code maintainable. The UI never touches SQL; all database access is inside DAOs using PreparedStatements. The matching service sits between model and DAO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report starts as PENDING. An admin approves or rejects it; approval triggers an in-app notification. Once the student accepts the handover, the item becomes CLAIMED and stays in the audit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normalized tables. Cascade deletes prevent orphan rows. Every query uses PreparedStatement, which is why the SQL-injection test case passes. The schema is created and seeded automatically on first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matching rules are deliberately simple and transparent: same category, then name containment or a shared keyword of at least three letters. Examples shown are illustrative of how the rule 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35 formal test cases passed. We highlight cases for authentication, duplicate email, matching, SQL injection and the cloud connection lifecycle. Full documentation, demo video and the portable executable are part of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gives campuses a single, auditable way to recover lost property. Future scope includes image matching, email/SMS alerts and a web or mobile front end.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8463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818888"/>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Smart Lost &amp; Found System  |  ACEIT Jaipur, RTU Kota</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512064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B.TECH. AI &amp; DATA SCIENCE  |  SEMESTER V  |  2026-27</a:t>
            </a:r>
            <a:endParaRPr lang="en-US" sz="1200" dirty="0"/>
          </a:p>
        </p:txBody>
      </p:sp>
      <p:sp>
        <p:nvSpPr>
          <p:cNvPr id="3" name="Text 0"/>
          <p:cNvSpPr/>
          <p:nvPr>
            <p:ph idx="100" type="title" hasCustomPrompt="1"/>
          </p:nvPr>
        </p:nvSpPr>
        <p:spPr>
          <a:xfrm>
            <a:off x="548640" y="1371600"/>
            <a:ext cx="4846320" cy="1371600"/>
          </a:xfrm>
          <a:prstGeom prst="rect">
            <a:avLst/>
          </a:prstGeom>
          <a:noFill/>
          <a:ln/>
        </p:spPr>
        <p:txBody>
          <a:bodyPr wrap="square" lIns="0" tIns="0" rIns="0" bIns="0" rtlCol="0" anchor="t"/>
          <a:lstStyle/>
          <a:p>
            <a:pPr algn="l" indent="0" marL="0">
              <a:buNone/>
            </a:pPr>
            <a:r>
              <a:rPr lang="en-US" sz="4000" b="1" dirty="0">
                <a:solidFill>
                  <a:schemeClr val="bg1"/>
                </a:solidFill>
              </a:rPr>
              <a:t>Smart Lost &amp; Found System</a:t>
            </a:r>
            <a:endParaRPr lang="en-US" sz="4000" dirty="0"/>
          </a:p>
        </p:txBody>
      </p:sp>
      <p:sp>
        <p:nvSpPr>
          <p:cNvPr id="4" name="Text 2"/>
          <p:cNvSpPr txBox="1"/>
          <p:nvPr/>
        </p:nvSpPr>
        <p:spPr>
          <a:xfrm>
            <a:off x="548640" y="2834640"/>
            <a:ext cx="4846320" cy="640080"/>
          </a:xfrm>
          <a:prstGeom prst="rect">
            <a:avLst/>
          </a:prstGeom>
          <a:noFill/>
          <a:ln/>
        </p:spPr>
        <p:txBody>
          <a:bodyPr wrap="square" lIns="0" tIns="0" rIns="0" bIns="0" rtlCol="0" anchor="t"/>
          <a:lstStyle/>
          <a:p>
            <a:pPr algn="l" indent="0" marL="0">
              <a:buNone/>
            </a:pPr>
            <a:r>
              <a:rPr lang="en-US" sz="1800" dirty="0">
                <a:solidFill>
                  <a:schemeClr val="bg2"/>
                </a:solidFill>
              </a:rPr>
              <a:t>Campus Property Recovery &amp; Management System</a:t>
            </a:r>
            <a:endParaRPr lang="en-US" sz="1800" dirty="0"/>
          </a:p>
        </p:txBody>
      </p:sp>
      <p:sp>
        <p:nvSpPr>
          <p:cNvPr id="5" name="Text 3"/>
          <p:cNvSpPr txBox="1"/>
          <p:nvPr/>
        </p:nvSpPr>
        <p:spPr>
          <a:xfrm>
            <a:off x="548640" y="3657600"/>
            <a:ext cx="5120640" cy="822960"/>
          </a:xfrm>
          <a:prstGeom prst="rect">
            <a:avLst/>
          </a:prstGeom>
          <a:noFill/>
          <a:ln/>
        </p:spPr>
        <p:txBody>
          <a:bodyPr wrap="square" lIns="0" tIns="0" rIns="0" bIns="0" rtlCol="0" anchor="t"/>
          <a:lstStyle/>
          <a:p>
            <a:pPr algn="l" indent="0" marL="0">
              <a:spcAft>
                <a:spcPts val="300"/>
              </a:spcAft>
              <a:buNone/>
            </a:pPr>
            <a:r>
              <a:rPr lang="en-US" sz="1200" dirty="0">
                <a:solidFill>
                  <a:schemeClr val="accent6"/>
                </a:solidFill>
              </a:rPr>
              <a:t>Arya College of Engineering &amp; Information Technology, Jaipur</a:t>
            </a:r>
            <a:endParaRPr lang="en-US" sz="1200" dirty="0"/>
          </a:p>
          <a:p>
            <a:pPr algn="l" indent="0" marL="0">
              <a:spcAft>
                <a:spcPts val="300"/>
              </a:spcAft>
              <a:buNone/>
            </a:pPr>
            <a:r>
              <a:rPr lang="en-US" sz="1200" dirty="0">
                <a:solidFill>
                  <a:schemeClr val="accent6"/>
                </a:solidFill>
              </a:rPr>
              <a:t>Department of AI &amp; Data Science  |  RTU Kota</a:t>
            </a:r>
            <a:endParaRPr lang="en-US" sz="1200" dirty="0"/>
          </a:p>
          <a:p>
            <a:pPr algn="l" indent="0" marL="0">
              <a:spcAft>
                <a:spcPts val="300"/>
              </a:spcAft>
              <a:buNone/>
            </a:pPr>
            <a:r>
              <a:rPr lang="en-US" sz="1200" dirty="0">
                <a:solidFill>
                  <a:schemeClr val="accent6"/>
                </a:solidFill>
              </a:rPr>
              <a:t>Guide: Er. Ram Babu Buri   |   HOD: Dr. Ashok Kajla</a:t>
            </a:r>
            <a:endParaRPr lang="en-US" sz="1200" dirty="0"/>
          </a:p>
        </p:txBody>
      </p:sp>
      <p:pic>
        <p:nvPicPr>
          <p:cNvPr id="6" name="Project logo" descr="Smart Lost &amp; Found logo: magnifying glass, package and location pin">    </p:cNvPr>
          <p:cNvPicPr>
            <a:picLocks noChangeAspect="1"/>
          </p:cNvPicPr>
          <p:nvPr/>
        </p:nvPicPr>
        <p:blipFill>
          <a:blip r:embed="rId1"/>
          <a:stretch>
            <a:fillRect/>
          </a:stretch>
        </p:blipFill>
        <p:spPr>
          <a:xfrm>
            <a:off x="5806440" y="1051560"/>
            <a:ext cx="2834640" cy="2834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Project Team &amp; Mentors</a:t>
            </a:r>
            <a:endParaRPr lang="en-US" sz="3000" dirty="0"/>
          </a:p>
        </p:txBody>
      </p:sp>
      <p:sp>
        <p:nvSpPr>
          <p:cNvPr id="3" name="Mentor card 1"/>
          <p:cNvSpPr/>
          <p:nvPr/>
        </p:nvSpPr>
        <p:spPr>
          <a:xfrm>
            <a:off x="457200" y="1143000"/>
            <a:ext cx="4023360" cy="731520"/>
          </a:xfrm>
          <a:prstGeom prst="roundRect">
            <a:avLst>
              <a:gd name="adj" fmla="val 10000"/>
            </a:avLst>
          </a:prstGeom>
          <a:solidFill>
            <a:schemeClr val="bg2"/>
          </a:solidFill>
          <a:ln w="12700">
            <a:solidFill>
              <a:schemeClr val="bg2"/>
            </a:solidFill>
            <a:prstDash val="solid"/>
          </a:ln>
        </p:spPr>
      </p:sp>
      <p:sp>
        <p:nvSpPr>
          <p:cNvPr id="4" name="Mentor icon 1 bg"/>
          <p:cNvSpPr/>
          <p:nvPr/>
        </p:nvSpPr>
        <p:spPr>
          <a:xfrm>
            <a:off x="594360" y="1261872"/>
            <a:ext cx="493776" cy="493776"/>
          </a:xfrm>
          <a:prstGeom prst="ellipse">
            <a:avLst/>
          </a:prstGeom>
          <a:solidFill>
            <a:schemeClr val="accent2"/>
          </a:solidFill>
          <a:ln w="12700">
            <a:solidFill>
              <a:schemeClr val="accent2"/>
            </a:solidFill>
            <a:prstDash val="solid"/>
          </a:ln>
        </p:spPr>
      </p:sp>
      <p:pic>
        <p:nvPicPr>
          <p:cNvPr id="5" name="Mentor icon 1" descr="Mentor icon 1">    </p:cNvPr>
          <p:cNvPicPr>
            <a:picLocks noChangeAspect="1"/>
          </p:cNvPicPr>
          <p:nvPr/>
        </p:nvPicPr>
        <p:blipFill>
          <a:blip r:embed="rId1"/>
          <a:stretch>
            <a:fillRect/>
          </a:stretch>
        </p:blipFill>
        <p:spPr>
          <a:xfrm>
            <a:off x="722742" y="1390254"/>
            <a:ext cx="237012" cy="237012"/>
          </a:xfrm>
          <a:prstGeom prst="rect">
            <a:avLst/>
          </a:prstGeom>
        </p:spPr>
      </p:pic>
      <p:sp>
        <p:nvSpPr>
          <p:cNvPr id="6" name="Text 3"/>
          <p:cNvSpPr txBox="1"/>
          <p:nvPr/>
        </p:nvSpPr>
        <p:spPr>
          <a:xfrm>
            <a:off x="1234440" y="1216152"/>
            <a:ext cx="3108960" cy="594360"/>
          </a:xfrm>
          <a:prstGeom prst="rect">
            <a:avLst/>
          </a:prstGeom>
          <a:noFill/>
          <a:ln/>
        </p:spPr>
        <p:txBody>
          <a:bodyPr wrap="square" lIns="0" tIns="0" rIns="0" bIns="0" rtlCol="0" anchor="t"/>
          <a:lstStyle/>
          <a:p>
            <a:pPr algn="l" indent="0" marL="0">
              <a:buNone/>
            </a:pPr>
            <a:r>
              <a:rPr lang="en-US" sz="1000" b="1" dirty="0">
                <a:solidFill>
                  <a:schemeClr val="accent2"/>
                </a:solidFill>
              </a:rPr>
              <a:t>PROJECT GUIDE &amp; MENTOR</a:t>
            </a:r>
            <a:endParaRPr lang="en-US" sz="1000" dirty="0"/>
          </a:p>
          <a:p>
            <a:pPr algn="l" indent="0" marL="0">
              <a:buNone/>
            </a:pPr>
            <a:r>
              <a:rPr lang="en-US" sz="1500" b="1" dirty="0">
                <a:solidFill>
                  <a:schemeClr val="tx1"/>
                </a:solidFill>
              </a:rPr>
              <a:t>Er. Ram Babu Buri</a:t>
            </a:r>
            <a:endParaRPr lang="en-US" sz="1000" dirty="0"/>
          </a:p>
          <a:p>
            <a:pPr algn="l" indent="0" marL="0">
              <a:buNone/>
            </a:pPr>
            <a:r>
              <a:rPr lang="en-US" sz="1200" dirty="0">
                <a:solidFill>
                  <a:schemeClr val="tx2"/>
                </a:solidFill>
              </a:rPr>
              <a:t>Assistant Professor</a:t>
            </a:r>
            <a:endParaRPr lang="en-US" sz="1000" dirty="0"/>
          </a:p>
        </p:txBody>
      </p:sp>
      <p:sp>
        <p:nvSpPr>
          <p:cNvPr id="7" name="Mentor card 2"/>
          <p:cNvSpPr/>
          <p:nvPr/>
        </p:nvSpPr>
        <p:spPr>
          <a:xfrm>
            <a:off x="4663440" y="1143000"/>
            <a:ext cx="4023360" cy="731520"/>
          </a:xfrm>
          <a:prstGeom prst="roundRect">
            <a:avLst>
              <a:gd name="adj" fmla="val 10000"/>
            </a:avLst>
          </a:prstGeom>
          <a:solidFill>
            <a:schemeClr val="bg2"/>
          </a:solidFill>
          <a:ln w="12700">
            <a:solidFill>
              <a:schemeClr val="bg2"/>
            </a:solidFill>
            <a:prstDash val="solid"/>
          </a:ln>
        </p:spPr>
      </p:sp>
      <p:sp>
        <p:nvSpPr>
          <p:cNvPr id="8" name="Mentor icon 2 bg"/>
          <p:cNvSpPr/>
          <p:nvPr/>
        </p:nvSpPr>
        <p:spPr>
          <a:xfrm>
            <a:off x="4800600" y="1261872"/>
            <a:ext cx="493776" cy="493776"/>
          </a:xfrm>
          <a:prstGeom prst="ellipse">
            <a:avLst/>
          </a:prstGeom>
          <a:solidFill>
            <a:schemeClr val="accent2"/>
          </a:solidFill>
          <a:ln w="12700">
            <a:solidFill>
              <a:schemeClr val="accent2"/>
            </a:solidFill>
            <a:prstDash val="solid"/>
          </a:ln>
        </p:spPr>
      </p:sp>
      <p:pic>
        <p:nvPicPr>
          <p:cNvPr id="9" name="Mentor icon 2" descr="Mentor icon 2">    </p:cNvPr>
          <p:cNvPicPr>
            <a:picLocks noChangeAspect="1"/>
          </p:cNvPicPr>
          <p:nvPr/>
        </p:nvPicPr>
        <p:blipFill>
          <a:blip r:embed="rId2"/>
          <a:stretch>
            <a:fillRect/>
          </a:stretch>
        </p:blipFill>
        <p:spPr>
          <a:xfrm>
            <a:off x="4928982" y="1390254"/>
            <a:ext cx="237012" cy="237012"/>
          </a:xfrm>
          <a:prstGeom prst="rect">
            <a:avLst/>
          </a:prstGeom>
        </p:spPr>
      </p:pic>
      <p:sp>
        <p:nvSpPr>
          <p:cNvPr id="10" name="Text 6"/>
          <p:cNvSpPr txBox="1"/>
          <p:nvPr/>
        </p:nvSpPr>
        <p:spPr>
          <a:xfrm>
            <a:off x="5440680" y="1216152"/>
            <a:ext cx="3108960" cy="594360"/>
          </a:xfrm>
          <a:prstGeom prst="rect">
            <a:avLst/>
          </a:prstGeom>
          <a:noFill/>
          <a:ln/>
        </p:spPr>
        <p:txBody>
          <a:bodyPr wrap="square" lIns="0" tIns="0" rIns="0" bIns="0" rtlCol="0" anchor="t"/>
          <a:lstStyle/>
          <a:p>
            <a:pPr algn="l" indent="0" marL="0">
              <a:buNone/>
            </a:pPr>
            <a:r>
              <a:rPr lang="en-US" sz="1000" b="1" dirty="0">
                <a:solidFill>
                  <a:schemeClr val="accent2"/>
                </a:solidFill>
              </a:rPr>
              <a:t>HEAD OF DEPARTMENT</a:t>
            </a:r>
            <a:endParaRPr lang="en-US" sz="1000" dirty="0"/>
          </a:p>
          <a:p>
            <a:pPr algn="l" indent="0" marL="0">
              <a:buNone/>
            </a:pPr>
            <a:r>
              <a:rPr lang="en-US" sz="1500" b="1" dirty="0">
                <a:solidFill>
                  <a:schemeClr val="tx1"/>
                </a:solidFill>
              </a:rPr>
              <a:t>Dr. Ashok Kajla</a:t>
            </a:r>
            <a:endParaRPr lang="en-US" sz="1000" dirty="0"/>
          </a:p>
          <a:p>
            <a:pPr algn="l" indent="0" marL="0">
              <a:buNone/>
            </a:pPr>
            <a:r>
              <a:rPr lang="en-US" sz="1200" dirty="0">
                <a:solidFill>
                  <a:schemeClr val="tx2"/>
                </a:solidFill>
              </a:rPr>
              <a:t>Professor, AI &amp; Data Science</a:t>
            </a:r>
            <a:endParaRPr lang="en-US" sz="1000" dirty="0"/>
          </a:p>
        </p:txBody>
      </p:sp>
      <p:sp>
        <p:nvSpPr>
          <p:cNvPr id="11" name="Member card 1"/>
          <p:cNvSpPr/>
          <p:nvPr/>
        </p:nvSpPr>
        <p:spPr>
          <a:xfrm>
            <a:off x="457200" y="2103120"/>
            <a:ext cx="1536192" cy="2606040"/>
          </a:xfrm>
          <a:prstGeom prst="roundRect">
            <a:avLst>
              <a:gd name="adj" fmla="val 476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Initials circle 1"/>
          <p:cNvSpPr/>
          <p:nvPr/>
        </p:nvSpPr>
        <p:spPr>
          <a:xfrm>
            <a:off x="594360" y="2240280"/>
            <a:ext cx="502920" cy="502920"/>
          </a:xfrm>
          <a:prstGeom prst="ellipse">
            <a:avLst/>
          </a:prstGeom>
          <a:solidFill>
            <a:schemeClr val="tx1"/>
          </a:solidFill>
          <a:ln w="12700">
            <a:solidFill>
              <a:schemeClr val="tx1"/>
            </a:solidFill>
            <a:prstDash val="solid"/>
          </a:ln>
        </p:spPr>
      </p:sp>
      <p:sp>
        <p:nvSpPr>
          <p:cNvPr id="13" name="Text 9"/>
          <p:cNvSpPr txBox="1"/>
          <p:nvPr/>
        </p:nvSpPr>
        <p:spPr>
          <a:xfrm>
            <a:off x="594360" y="2240280"/>
            <a:ext cx="502920" cy="502920"/>
          </a:xfrm>
          <a:prstGeom prst="rect">
            <a:avLst/>
          </a:prstGeom>
          <a:noFill/>
          <a:ln/>
        </p:spPr>
        <p:txBody>
          <a:bodyPr wrap="square" lIns="0" tIns="0" rIns="0" bIns="0" rtlCol="0" anchor="ctr"/>
          <a:lstStyle/>
          <a:p>
            <a:pPr algn="ctr" indent="0" marL="0">
              <a:buNone/>
            </a:pPr>
            <a:r>
              <a:rPr lang="en-US" sz="1400" b="1" dirty="0">
                <a:solidFill>
                  <a:schemeClr val="accent1"/>
                </a:solidFill>
              </a:rPr>
              <a:t>MN</a:t>
            </a:r>
            <a:endParaRPr lang="en-US" sz="1400" dirty="0"/>
          </a:p>
        </p:txBody>
      </p:sp>
      <p:sp>
        <p:nvSpPr>
          <p:cNvPr id="14" name="Text 10"/>
          <p:cNvSpPr txBox="1"/>
          <p:nvPr/>
        </p:nvSpPr>
        <p:spPr>
          <a:xfrm>
            <a:off x="594360" y="2852928"/>
            <a:ext cx="1261872" cy="457200"/>
          </a:xfrm>
          <a:prstGeom prst="rect">
            <a:avLst/>
          </a:prstGeom>
          <a:noFill/>
          <a:ln/>
        </p:spPr>
        <p:txBody>
          <a:bodyPr wrap="square" lIns="0" tIns="0" rIns="0" bIns="0" rtlCol="0" anchor="t"/>
          <a:lstStyle/>
          <a:p>
            <a:pPr algn="l" indent="0" marL="0">
              <a:buNone/>
            </a:pPr>
            <a:r>
              <a:rPr lang="en-US" sz="1300" b="1" dirty="0">
                <a:solidFill>
                  <a:schemeClr val="tx1"/>
                </a:solidFill>
              </a:rPr>
              <a:t>Mitesh Nehra</a:t>
            </a:r>
            <a:endParaRPr lang="en-US" sz="1300" dirty="0"/>
          </a:p>
        </p:txBody>
      </p:sp>
      <p:sp>
        <p:nvSpPr>
          <p:cNvPr id="15" name="Text 11"/>
          <p:cNvSpPr txBox="1"/>
          <p:nvPr/>
        </p:nvSpPr>
        <p:spPr>
          <a:xfrm>
            <a:off x="594360" y="3319272"/>
            <a:ext cx="1261872" cy="201168"/>
          </a:xfrm>
          <a:prstGeom prst="rect">
            <a:avLst/>
          </a:prstGeom>
          <a:noFill/>
          <a:ln/>
        </p:spPr>
        <p:txBody>
          <a:bodyPr wrap="square" lIns="0" tIns="0" rIns="0" bIns="0" rtlCol="0" anchor="t"/>
          <a:lstStyle/>
          <a:p>
            <a:pPr algn="l" indent="0" marL="0">
              <a:buNone/>
            </a:pPr>
            <a:r>
              <a:rPr lang="en-US" sz="1100" dirty="0">
                <a:solidFill>
                  <a:schemeClr val="tx2"/>
                </a:solidFill>
              </a:rPr>
              <a:t>24EARAD102</a:t>
            </a:r>
            <a:endParaRPr lang="en-US" sz="1100" dirty="0"/>
          </a:p>
        </p:txBody>
      </p:sp>
      <p:sp>
        <p:nvSpPr>
          <p:cNvPr id="16" name="Text 12"/>
          <p:cNvSpPr txBox="1"/>
          <p:nvPr/>
        </p:nvSpPr>
        <p:spPr>
          <a:xfrm>
            <a:off x="594360" y="3584448"/>
            <a:ext cx="1261872" cy="384048"/>
          </a:xfrm>
          <a:prstGeom prst="rect">
            <a:avLst/>
          </a:prstGeom>
          <a:noFill/>
          <a:ln/>
        </p:spPr>
        <p:txBody>
          <a:bodyPr wrap="square" lIns="0" tIns="0" rIns="0" bIns="0" rtlCol="0" anchor="t"/>
          <a:lstStyle/>
          <a:p>
            <a:pPr algn="l" indent="0" marL="0">
              <a:buNone/>
            </a:pPr>
            <a:r>
              <a:rPr lang="en-US" sz="1200" b="1" dirty="0">
                <a:solidFill>
                  <a:schemeClr val="accent2"/>
                </a:solidFill>
              </a:rPr>
              <a:t>Student Panel</a:t>
            </a:r>
            <a:endParaRPr lang="en-US" sz="1200" dirty="0"/>
          </a:p>
        </p:txBody>
      </p:sp>
      <p:sp>
        <p:nvSpPr>
          <p:cNvPr id="17" name="Text 13"/>
          <p:cNvSpPr txBox="1"/>
          <p:nvPr/>
        </p:nvSpPr>
        <p:spPr>
          <a:xfrm>
            <a:off x="594360" y="4023360"/>
            <a:ext cx="1261872" cy="594360"/>
          </a:xfrm>
          <a:prstGeom prst="rect">
            <a:avLst/>
          </a:prstGeom>
          <a:noFill/>
          <a:ln/>
        </p:spPr>
        <p:txBody>
          <a:bodyPr wrap="square" lIns="0" tIns="0" rIns="0" bIns="0" rtlCol="0" anchor="t"/>
          <a:lstStyle/>
          <a:p>
            <a:pPr algn="l" indent="0" marL="0">
              <a:buNone/>
            </a:pPr>
            <a:r>
              <a:rPr lang="en-US" sz="1100" dirty="0">
                <a:solidFill>
                  <a:schemeClr val="tx2"/>
                </a:solidFill>
              </a:rPr>
              <a:t>Lost/found forms, notifications, claim workflow</a:t>
            </a:r>
            <a:endParaRPr lang="en-US" sz="1100" dirty="0"/>
          </a:p>
        </p:txBody>
      </p:sp>
      <p:sp>
        <p:nvSpPr>
          <p:cNvPr id="18" name="Member card 2"/>
          <p:cNvSpPr/>
          <p:nvPr/>
        </p:nvSpPr>
        <p:spPr>
          <a:xfrm>
            <a:off x="2130552" y="2103120"/>
            <a:ext cx="1536192" cy="2606040"/>
          </a:xfrm>
          <a:prstGeom prst="roundRect">
            <a:avLst>
              <a:gd name="adj" fmla="val 476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nitials circle 2"/>
          <p:cNvSpPr/>
          <p:nvPr/>
        </p:nvSpPr>
        <p:spPr>
          <a:xfrm>
            <a:off x="2267712" y="2240280"/>
            <a:ext cx="502920" cy="502920"/>
          </a:xfrm>
          <a:prstGeom prst="ellipse">
            <a:avLst/>
          </a:prstGeom>
          <a:solidFill>
            <a:schemeClr val="tx1"/>
          </a:solidFill>
          <a:ln w="12700">
            <a:solidFill>
              <a:schemeClr val="tx1"/>
            </a:solidFill>
            <a:prstDash val="solid"/>
          </a:ln>
        </p:spPr>
      </p:sp>
      <p:sp>
        <p:nvSpPr>
          <p:cNvPr id="20" name="Text 16"/>
          <p:cNvSpPr txBox="1"/>
          <p:nvPr/>
        </p:nvSpPr>
        <p:spPr>
          <a:xfrm>
            <a:off x="2267712" y="2240280"/>
            <a:ext cx="502920" cy="502920"/>
          </a:xfrm>
          <a:prstGeom prst="rect">
            <a:avLst/>
          </a:prstGeom>
          <a:noFill/>
          <a:ln/>
        </p:spPr>
        <p:txBody>
          <a:bodyPr wrap="square" lIns="0" tIns="0" rIns="0" bIns="0" rtlCol="0" anchor="ctr"/>
          <a:lstStyle/>
          <a:p>
            <a:pPr algn="ctr" indent="0" marL="0">
              <a:buNone/>
            </a:pPr>
            <a:r>
              <a:rPr lang="en-US" sz="1400" b="1" dirty="0">
                <a:solidFill>
                  <a:schemeClr val="accent1"/>
                </a:solidFill>
              </a:rPr>
              <a:t>MS</a:t>
            </a:r>
            <a:endParaRPr lang="en-US" sz="1400" dirty="0"/>
          </a:p>
        </p:txBody>
      </p:sp>
      <p:sp>
        <p:nvSpPr>
          <p:cNvPr id="21" name="Text 17"/>
          <p:cNvSpPr txBox="1"/>
          <p:nvPr/>
        </p:nvSpPr>
        <p:spPr>
          <a:xfrm>
            <a:off x="2267712" y="2852928"/>
            <a:ext cx="1261872" cy="457200"/>
          </a:xfrm>
          <a:prstGeom prst="rect">
            <a:avLst/>
          </a:prstGeom>
          <a:noFill/>
          <a:ln/>
        </p:spPr>
        <p:txBody>
          <a:bodyPr wrap="square" lIns="0" tIns="0" rIns="0" bIns="0" rtlCol="0" anchor="t"/>
          <a:lstStyle/>
          <a:p>
            <a:pPr algn="l" indent="0" marL="0">
              <a:buNone/>
            </a:pPr>
            <a:r>
              <a:rPr lang="en-US" sz="1300" b="1" dirty="0">
                <a:solidFill>
                  <a:schemeClr val="tx1"/>
                </a:solidFill>
              </a:rPr>
              <a:t>Mohit Kumar Sharma</a:t>
            </a:r>
            <a:endParaRPr lang="en-US" sz="1300" dirty="0"/>
          </a:p>
        </p:txBody>
      </p:sp>
      <p:sp>
        <p:nvSpPr>
          <p:cNvPr id="22" name="Text 18"/>
          <p:cNvSpPr txBox="1"/>
          <p:nvPr/>
        </p:nvSpPr>
        <p:spPr>
          <a:xfrm>
            <a:off x="2267712" y="3319272"/>
            <a:ext cx="1261872" cy="201168"/>
          </a:xfrm>
          <a:prstGeom prst="rect">
            <a:avLst/>
          </a:prstGeom>
          <a:noFill/>
          <a:ln/>
        </p:spPr>
        <p:txBody>
          <a:bodyPr wrap="square" lIns="0" tIns="0" rIns="0" bIns="0" rtlCol="0" anchor="t"/>
          <a:lstStyle/>
          <a:p>
            <a:pPr algn="l" indent="0" marL="0">
              <a:buNone/>
            </a:pPr>
            <a:r>
              <a:rPr lang="en-US" sz="1100" dirty="0">
                <a:solidFill>
                  <a:schemeClr val="tx2"/>
                </a:solidFill>
              </a:rPr>
              <a:t>24EARAD103</a:t>
            </a:r>
            <a:endParaRPr lang="en-US" sz="1100" dirty="0"/>
          </a:p>
        </p:txBody>
      </p:sp>
      <p:sp>
        <p:nvSpPr>
          <p:cNvPr id="23" name="Text 19"/>
          <p:cNvSpPr txBox="1"/>
          <p:nvPr/>
        </p:nvSpPr>
        <p:spPr>
          <a:xfrm>
            <a:off x="2267712" y="3584448"/>
            <a:ext cx="1261872" cy="384048"/>
          </a:xfrm>
          <a:prstGeom prst="rect">
            <a:avLst/>
          </a:prstGeom>
          <a:noFill/>
          <a:ln/>
        </p:spPr>
        <p:txBody>
          <a:bodyPr wrap="square" lIns="0" tIns="0" rIns="0" bIns="0" rtlCol="0" anchor="t"/>
          <a:lstStyle/>
          <a:p>
            <a:pPr algn="l" indent="0" marL="0">
              <a:buNone/>
            </a:pPr>
            <a:r>
              <a:rPr lang="en-US" sz="1200" b="1" dirty="0">
                <a:solidFill>
                  <a:schemeClr val="accent2"/>
                </a:solidFill>
              </a:rPr>
              <a:t>Database &amp; DAO Layer</a:t>
            </a:r>
            <a:endParaRPr lang="en-US" sz="1200" dirty="0"/>
          </a:p>
        </p:txBody>
      </p:sp>
      <p:sp>
        <p:nvSpPr>
          <p:cNvPr id="24" name="Text 20"/>
          <p:cNvSpPr txBox="1"/>
          <p:nvPr/>
        </p:nvSpPr>
        <p:spPr>
          <a:xfrm>
            <a:off x="2267712" y="4023360"/>
            <a:ext cx="1261872" cy="594360"/>
          </a:xfrm>
          <a:prstGeom prst="rect">
            <a:avLst/>
          </a:prstGeom>
          <a:noFill/>
          <a:ln/>
        </p:spPr>
        <p:txBody>
          <a:bodyPr wrap="square" lIns="0" tIns="0" rIns="0" bIns="0" rtlCol="0" anchor="t"/>
          <a:lstStyle/>
          <a:p>
            <a:pPr algn="l" indent="0" marL="0">
              <a:buNone/>
            </a:pPr>
            <a:r>
              <a:rPr lang="en-US" sz="1100" dirty="0">
                <a:solidFill>
                  <a:schemeClr val="tx2"/>
                </a:solidFill>
              </a:rPr>
              <a:t>JDBC manager, schema bootstrap, database.sql</a:t>
            </a:r>
            <a:endParaRPr lang="en-US" sz="1100" dirty="0"/>
          </a:p>
        </p:txBody>
      </p:sp>
      <p:sp>
        <p:nvSpPr>
          <p:cNvPr id="25" name="Member card 3"/>
          <p:cNvSpPr/>
          <p:nvPr/>
        </p:nvSpPr>
        <p:spPr>
          <a:xfrm>
            <a:off x="3803904" y="2103120"/>
            <a:ext cx="1536192" cy="2606040"/>
          </a:xfrm>
          <a:prstGeom prst="roundRect">
            <a:avLst>
              <a:gd name="adj" fmla="val 476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6" name="Initials circle 3"/>
          <p:cNvSpPr/>
          <p:nvPr/>
        </p:nvSpPr>
        <p:spPr>
          <a:xfrm>
            <a:off x="3941064" y="2240280"/>
            <a:ext cx="502920" cy="502920"/>
          </a:xfrm>
          <a:prstGeom prst="ellipse">
            <a:avLst/>
          </a:prstGeom>
          <a:solidFill>
            <a:schemeClr val="tx1"/>
          </a:solidFill>
          <a:ln w="12700">
            <a:solidFill>
              <a:schemeClr val="tx1"/>
            </a:solidFill>
            <a:prstDash val="solid"/>
          </a:ln>
        </p:spPr>
      </p:sp>
      <p:sp>
        <p:nvSpPr>
          <p:cNvPr id="27" name="Text 23"/>
          <p:cNvSpPr txBox="1"/>
          <p:nvPr/>
        </p:nvSpPr>
        <p:spPr>
          <a:xfrm>
            <a:off x="3941064" y="2240280"/>
            <a:ext cx="502920" cy="502920"/>
          </a:xfrm>
          <a:prstGeom prst="rect">
            <a:avLst/>
          </a:prstGeom>
          <a:noFill/>
          <a:ln/>
        </p:spPr>
        <p:txBody>
          <a:bodyPr wrap="square" lIns="0" tIns="0" rIns="0" bIns="0" rtlCol="0" anchor="ctr"/>
          <a:lstStyle/>
          <a:p>
            <a:pPr algn="ctr" indent="0" marL="0">
              <a:buNone/>
            </a:pPr>
            <a:r>
              <a:rPr lang="en-US" sz="1400" b="1" dirty="0">
                <a:solidFill>
                  <a:schemeClr val="accent1"/>
                </a:solidFill>
              </a:rPr>
              <a:t>NP</a:t>
            </a:r>
            <a:endParaRPr lang="en-US" sz="1400" dirty="0"/>
          </a:p>
        </p:txBody>
      </p:sp>
      <p:sp>
        <p:nvSpPr>
          <p:cNvPr id="28" name="Text 24"/>
          <p:cNvSpPr txBox="1"/>
          <p:nvPr/>
        </p:nvSpPr>
        <p:spPr>
          <a:xfrm>
            <a:off x="3941064" y="2852928"/>
            <a:ext cx="1261872" cy="457200"/>
          </a:xfrm>
          <a:prstGeom prst="rect">
            <a:avLst/>
          </a:prstGeom>
          <a:noFill/>
          <a:ln/>
        </p:spPr>
        <p:txBody>
          <a:bodyPr wrap="square" lIns="0" tIns="0" rIns="0" bIns="0" rtlCol="0" anchor="t"/>
          <a:lstStyle/>
          <a:p>
            <a:pPr algn="l" indent="0" marL="0">
              <a:buNone/>
            </a:pPr>
            <a:r>
              <a:rPr lang="en-US" sz="1300" b="1" dirty="0">
                <a:solidFill>
                  <a:schemeClr val="tx1"/>
                </a:solidFill>
              </a:rPr>
              <a:t>Naitik Pathak</a:t>
            </a:r>
            <a:endParaRPr lang="en-US" sz="1300" dirty="0"/>
          </a:p>
        </p:txBody>
      </p:sp>
      <p:sp>
        <p:nvSpPr>
          <p:cNvPr id="29" name="Text 25"/>
          <p:cNvSpPr txBox="1"/>
          <p:nvPr/>
        </p:nvSpPr>
        <p:spPr>
          <a:xfrm>
            <a:off x="3941064" y="3319272"/>
            <a:ext cx="1261872" cy="201168"/>
          </a:xfrm>
          <a:prstGeom prst="rect">
            <a:avLst/>
          </a:prstGeom>
          <a:noFill/>
          <a:ln/>
        </p:spPr>
        <p:txBody>
          <a:bodyPr wrap="square" lIns="0" tIns="0" rIns="0" bIns="0" rtlCol="0" anchor="t"/>
          <a:lstStyle/>
          <a:p>
            <a:pPr algn="l" indent="0" marL="0">
              <a:buNone/>
            </a:pPr>
            <a:r>
              <a:rPr lang="en-US" sz="1100" dirty="0">
                <a:solidFill>
                  <a:schemeClr val="tx2"/>
                </a:solidFill>
              </a:rPr>
              <a:t>24EARAD106</a:t>
            </a:r>
            <a:endParaRPr lang="en-US" sz="1100" dirty="0"/>
          </a:p>
        </p:txBody>
      </p:sp>
      <p:sp>
        <p:nvSpPr>
          <p:cNvPr id="30" name="Text 26"/>
          <p:cNvSpPr txBox="1"/>
          <p:nvPr/>
        </p:nvSpPr>
        <p:spPr>
          <a:xfrm>
            <a:off x="3941064" y="3584448"/>
            <a:ext cx="1261872" cy="384048"/>
          </a:xfrm>
          <a:prstGeom prst="rect">
            <a:avLst/>
          </a:prstGeom>
          <a:noFill/>
          <a:ln/>
        </p:spPr>
        <p:txBody>
          <a:bodyPr wrap="square" lIns="0" tIns="0" rIns="0" bIns="0" rtlCol="0" anchor="t"/>
          <a:lstStyle/>
          <a:p>
            <a:pPr algn="l" indent="0" marL="0">
              <a:buNone/>
            </a:pPr>
            <a:r>
              <a:rPr lang="en-US" sz="1200" b="1" dirty="0">
                <a:solidFill>
                  <a:schemeClr val="accent2"/>
                </a:solidFill>
              </a:rPr>
              <a:t>Admin Panel</a:t>
            </a:r>
            <a:endParaRPr lang="en-US" sz="1200" dirty="0"/>
          </a:p>
        </p:txBody>
      </p:sp>
      <p:sp>
        <p:nvSpPr>
          <p:cNvPr id="31" name="Text 27"/>
          <p:cNvSpPr txBox="1"/>
          <p:nvPr/>
        </p:nvSpPr>
        <p:spPr>
          <a:xfrm>
            <a:off x="3941064" y="4023360"/>
            <a:ext cx="1261872" cy="594360"/>
          </a:xfrm>
          <a:prstGeom prst="rect">
            <a:avLst/>
          </a:prstGeom>
          <a:noFill/>
          <a:ln/>
        </p:spPr>
        <p:txBody>
          <a:bodyPr wrap="square" lIns="0" tIns="0" rIns="0" bIns="0" rtlCol="0" anchor="t"/>
          <a:lstStyle/>
          <a:p>
            <a:pPr algn="l" indent="0" marL="0">
              <a:buNone/>
            </a:pPr>
            <a:r>
              <a:rPr lang="en-US" sz="1100" dirty="0">
                <a:solidFill>
                  <a:schemeClr val="tx2"/>
                </a:solidFill>
              </a:rPr>
              <a:t>Verification queue, desk entry, claimed-items audit</a:t>
            </a:r>
            <a:endParaRPr lang="en-US" sz="1100" dirty="0"/>
          </a:p>
        </p:txBody>
      </p:sp>
      <p:sp>
        <p:nvSpPr>
          <p:cNvPr id="32" name="Member card 4"/>
          <p:cNvSpPr/>
          <p:nvPr/>
        </p:nvSpPr>
        <p:spPr>
          <a:xfrm>
            <a:off x="5477256" y="2103120"/>
            <a:ext cx="1536192" cy="2606040"/>
          </a:xfrm>
          <a:prstGeom prst="roundRect">
            <a:avLst>
              <a:gd name="adj" fmla="val 476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3" name="Initials circle 4"/>
          <p:cNvSpPr/>
          <p:nvPr/>
        </p:nvSpPr>
        <p:spPr>
          <a:xfrm>
            <a:off x="5614416" y="2240280"/>
            <a:ext cx="502920" cy="502920"/>
          </a:xfrm>
          <a:prstGeom prst="ellipse">
            <a:avLst/>
          </a:prstGeom>
          <a:solidFill>
            <a:schemeClr val="tx1"/>
          </a:solidFill>
          <a:ln w="12700">
            <a:solidFill>
              <a:schemeClr val="tx1"/>
            </a:solidFill>
            <a:prstDash val="solid"/>
          </a:ln>
        </p:spPr>
      </p:sp>
      <p:sp>
        <p:nvSpPr>
          <p:cNvPr id="34" name="Text 30"/>
          <p:cNvSpPr txBox="1"/>
          <p:nvPr/>
        </p:nvSpPr>
        <p:spPr>
          <a:xfrm>
            <a:off x="5614416" y="2240280"/>
            <a:ext cx="502920" cy="502920"/>
          </a:xfrm>
          <a:prstGeom prst="rect">
            <a:avLst/>
          </a:prstGeom>
          <a:noFill/>
          <a:ln/>
        </p:spPr>
        <p:txBody>
          <a:bodyPr wrap="square" lIns="0" tIns="0" rIns="0" bIns="0" rtlCol="0" anchor="ctr"/>
          <a:lstStyle/>
          <a:p>
            <a:pPr algn="ctr" indent="0" marL="0">
              <a:buNone/>
            </a:pPr>
            <a:r>
              <a:rPr lang="en-US" sz="1400" b="1" dirty="0">
                <a:solidFill>
                  <a:schemeClr val="accent1"/>
                </a:solidFill>
              </a:rPr>
              <a:t>PS</a:t>
            </a:r>
            <a:endParaRPr lang="en-US" sz="1400" dirty="0"/>
          </a:p>
        </p:txBody>
      </p:sp>
      <p:sp>
        <p:nvSpPr>
          <p:cNvPr id="35" name="Text 31"/>
          <p:cNvSpPr txBox="1"/>
          <p:nvPr/>
        </p:nvSpPr>
        <p:spPr>
          <a:xfrm>
            <a:off x="5614416" y="2852928"/>
            <a:ext cx="1261872" cy="457200"/>
          </a:xfrm>
          <a:prstGeom prst="rect">
            <a:avLst/>
          </a:prstGeom>
          <a:noFill/>
          <a:ln/>
        </p:spPr>
        <p:txBody>
          <a:bodyPr wrap="square" lIns="0" tIns="0" rIns="0" bIns="0" rtlCol="0" anchor="t"/>
          <a:lstStyle/>
          <a:p>
            <a:pPr algn="l" indent="0" marL="0">
              <a:buNone/>
            </a:pPr>
            <a:r>
              <a:rPr lang="en-US" sz="1300" b="1" dirty="0">
                <a:solidFill>
                  <a:schemeClr val="tx1"/>
                </a:solidFill>
              </a:rPr>
              <a:t>Paramveer Singh</a:t>
            </a:r>
            <a:endParaRPr lang="en-US" sz="1300" dirty="0"/>
          </a:p>
        </p:txBody>
      </p:sp>
      <p:sp>
        <p:nvSpPr>
          <p:cNvPr id="36" name="Text 32"/>
          <p:cNvSpPr txBox="1"/>
          <p:nvPr/>
        </p:nvSpPr>
        <p:spPr>
          <a:xfrm>
            <a:off x="5614416" y="3319272"/>
            <a:ext cx="1261872" cy="201168"/>
          </a:xfrm>
          <a:prstGeom prst="rect">
            <a:avLst/>
          </a:prstGeom>
          <a:noFill/>
          <a:ln/>
        </p:spPr>
        <p:txBody>
          <a:bodyPr wrap="square" lIns="0" tIns="0" rIns="0" bIns="0" rtlCol="0" anchor="t"/>
          <a:lstStyle/>
          <a:p>
            <a:pPr algn="l" indent="0" marL="0">
              <a:buNone/>
            </a:pPr>
            <a:r>
              <a:rPr lang="en-US" sz="1100" dirty="0">
                <a:solidFill>
                  <a:schemeClr val="tx2"/>
                </a:solidFill>
              </a:rPr>
              <a:t>24EARAD119</a:t>
            </a:r>
            <a:endParaRPr lang="en-US" sz="1100" dirty="0"/>
          </a:p>
        </p:txBody>
      </p:sp>
      <p:sp>
        <p:nvSpPr>
          <p:cNvPr id="37" name="Text 33"/>
          <p:cNvSpPr txBox="1"/>
          <p:nvPr/>
        </p:nvSpPr>
        <p:spPr>
          <a:xfrm>
            <a:off x="5614416" y="3584448"/>
            <a:ext cx="1261872" cy="384048"/>
          </a:xfrm>
          <a:prstGeom prst="rect">
            <a:avLst/>
          </a:prstGeom>
          <a:noFill/>
          <a:ln/>
        </p:spPr>
        <p:txBody>
          <a:bodyPr wrap="square" lIns="0" tIns="0" rIns="0" bIns="0" rtlCol="0" anchor="t"/>
          <a:lstStyle/>
          <a:p>
            <a:pPr algn="l" indent="0" marL="0">
              <a:buNone/>
            </a:pPr>
            <a:r>
              <a:rPr lang="en-US" sz="1200" b="1" dirty="0">
                <a:solidFill>
                  <a:schemeClr val="accent2"/>
                </a:solidFill>
              </a:rPr>
              <a:t>Testing &amp; Packaging</a:t>
            </a:r>
            <a:endParaRPr lang="en-US" sz="1200" dirty="0"/>
          </a:p>
        </p:txBody>
      </p:sp>
      <p:sp>
        <p:nvSpPr>
          <p:cNvPr id="38" name="Text 34"/>
          <p:cNvSpPr txBox="1"/>
          <p:nvPr/>
        </p:nvSpPr>
        <p:spPr>
          <a:xfrm>
            <a:off x="5614416" y="4023360"/>
            <a:ext cx="1261872" cy="594360"/>
          </a:xfrm>
          <a:prstGeom prst="rect">
            <a:avLst/>
          </a:prstGeom>
          <a:noFill/>
          <a:ln/>
        </p:spPr>
        <p:txBody>
          <a:bodyPr wrap="square" lIns="0" tIns="0" rIns="0" bIns="0" rtlCol="0" anchor="t"/>
          <a:lstStyle/>
          <a:p>
            <a:pPr algn="l" indent="0" marL="0">
              <a:buNone/>
            </a:pPr>
            <a:r>
              <a:rPr lang="en-US" sz="1100" dirty="0">
                <a:solidFill>
                  <a:schemeClr val="tx2"/>
                </a:solidFill>
              </a:rPr>
              <a:t>35-case test suite, build pipeline, portable .exe</a:t>
            </a:r>
            <a:endParaRPr lang="en-US" sz="1100" dirty="0"/>
          </a:p>
        </p:txBody>
      </p:sp>
      <p:sp>
        <p:nvSpPr>
          <p:cNvPr id="39" name="Member card 5"/>
          <p:cNvSpPr/>
          <p:nvPr/>
        </p:nvSpPr>
        <p:spPr>
          <a:xfrm>
            <a:off x="7150608" y="2103120"/>
            <a:ext cx="1536192" cy="2606040"/>
          </a:xfrm>
          <a:prstGeom prst="roundRect">
            <a:avLst>
              <a:gd name="adj" fmla="val 476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0" name="Initials circle 5"/>
          <p:cNvSpPr/>
          <p:nvPr/>
        </p:nvSpPr>
        <p:spPr>
          <a:xfrm>
            <a:off x="7287768" y="2240280"/>
            <a:ext cx="502920" cy="502920"/>
          </a:xfrm>
          <a:prstGeom prst="ellipse">
            <a:avLst/>
          </a:prstGeom>
          <a:solidFill>
            <a:schemeClr val="tx1"/>
          </a:solidFill>
          <a:ln w="12700">
            <a:solidFill>
              <a:schemeClr val="tx1"/>
            </a:solidFill>
            <a:prstDash val="solid"/>
          </a:ln>
        </p:spPr>
      </p:sp>
      <p:sp>
        <p:nvSpPr>
          <p:cNvPr id="41" name="Text 37"/>
          <p:cNvSpPr txBox="1"/>
          <p:nvPr/>
        </p:nvSpPr>
        <p:spPr>
          <a:xfrm>
            <a:off x="7287768" y="2240280"/>
            <a:ext cx="502920" cy="502920"/>
          </a:xfrm>
          <a:prstGeom prst="rect">
            <a:avLst/>
          </a:prstGeom>
          <a:noFill/>
          <a:ln/>
        </p:spPr>
        <p:txBody>
          <a:bodyPr wrap="square" lIns="0" tIns="0" rIns="0" bIns="0" rtlCol="0" anchor="ctr"/>
          <a:lstStyle/>
          <a:p>
            <a:pPr algn="ctr" indent="0" marL="0">
              <a:buNone/>
            </a:pPr>
            <a:r>
              <a:rPr lang="en-US" sz="1400" b="1" dirty="0">
                <a:solidFill>
                  <a:schemeClr val="accent1"/>
                </a:solidFill>
              </a:rPr>
              <a:t>PC</a:t>
            </a:r>
            <a:endParaRPr lang="en-US" sz="1400" dirty="0"/>
          </a:p>
        </p:txBody>
      </p:sp>
      <p:sp>
        <p:nvSpPr>
          <p:cNvPr id="42" name="Text 38"/>
          <p:cNvSpPr txBox="1"/>
          <p:nvPr/>
        </p:nvSpPr>
        <p:spPr>
          <a:xfrm>
            <a:off x="7287768" y="2852928"/>
            <a:ext cx="1261872" cy="457200"/>
          </a:xfrm>
          <a:prstGeom prst="rect">
            <a:avLst/>
          </a:prstGeom>
          <a:noFill/>
          <a:ln/>
        </p:spPr>
        <p:txBody>
          <a:bodyPr wrap="square" lIns="0" tIns="0" rIns="0" bIns="0" rtlCol="0" anchor="t"/>
          <a:lstStyle/>
          <a:p>
            <a:pPr algn="l" indent="0" marL="0">
              <a:buNone/>
            </a:pPr>
            <a:r>
              <a:rPr lang="en-US" sz="1300" b="1" dirty="0">
                <a:solidFill>
                  <a:schemeClr val="tx1"/>
                </a:solidFill>
              </a:rPr>
              <a:t>Prabhash Kumar Chaudhary</a:t>
            </a:r>
            <a:endParaRPr lang="en-US" sz="1300" dirty="0"/>
          </a:p>
        </p:txBody>
      </p:sp>
      <p:sp>
        <p:nvSpPr>
          <p:cNvPr id="43" name="Text 39"/>
          <p:cNvSpPr txBox="1"/>
          <p:nvPr/>
        </p:nvSpPr>
        <p:spPr>
          <a:xfrm>
            <a:off x="7287768" y="3319272"/>
            <a:ext cx="1261872" cy="201168"/>
          </a:xfrm>
          <a:prstGeom prst="rect">
            <a:avLst/>
          </a:prstGeom>
          <a:noFill/>
          <a:ln/>
        </p:spPr>
        <p:txBody>
          <a:bodyPr wrap="square" lIns="0" tIns="0" rIns="0" bIns="0" rtlCol="0" anchor="t"/>
          <a:lstStyle/>
          <a:p>
            <a:pPr algn="l" indent="0" marL="0">
              <a:buNone/>
            </a:pPr>
            <a:r>
              <a:rPr lang="en-US" sz="1100" dirty="0">
                <a:solidFill>
                  <a:schemeClr val="tx2"/>
                </a:solidFill>
              </a:rPr>
              <a:t>24EARAD121</a:t>
            </a:r>
            <a:endParaRPr lang="en-US" sz="1100" dirty="0"/>
          </a:p>
        </p:txBody>
      </p:sp>
      <p:sp>
        <p:nvSpPr>
          <p:cNvPr id="44" name="Text 40"/>
          <p:cNvSpPr txBox="1"/>
          <p:nvPr/>
        </p:nvSpPr>
        <p:spPr>
          <a:xfrm>
            <a:off x="7287768" y="3584448"/>
            <a:ext cx="1261872" cy="384048"/>
          </a:xfrm>
          <a:prstGeom prst="rect">
            <a:avLst/>
          </a:prstGeom>
          <a:noFill/>
          <a:ln/>
        </p:spPr>
        <p:txBody>
          <a:bodyPr wrap="square" lIns="0" tIns="0" rIns="0" bIns="0" rtlCol="0" anchor="t"/>
          <a:lstStyle/>
          <a:p>
            <a:pPr algn="l" indent="0" marL="0">
              <a:buNone/>
            </a:pPr>
            <a:r>
              <a:rPr lang="en-US" sz="1200" b="1" dirty="0">
                <a:solidFill>
                  <a:schemeClr val="accent2"/>
                </a:solidFill>
              </a:rPr>
              <a:t>Authentication &amp; Security</a:t>
            </a:r>
            <a:endParaRPr lang="en-US" sz="1200" dirty="0"/>
          </a:p>
        </p:txBody>
      </p:sp>
      <p:sp>
        <p:nvSpPr>
          <p:cNvPr id="45" name="Text 41"/>
          <p:cNvSpPr txBox="1"/>
          <p:nvPr/>
        </p:nvSpPr>
        <p:spPr>
          <a:xfrm>
            <a:off x="7287768" y="4023360"/>
            <a:ext cx="1261872" cy="594360"/>
          </a:xfrm>
          <a:prstGeom prst="rect">
            <a:avLst/>
          </a:prstGeom>
          <a:noFill/>
          <a:ln/>
        </p:spPr>
        <p:txBody>
          <a:bodyPr wrap="square" lIns="0" tIns="0" rIns="0" bIns="0" rtlCol="0" anchor="t"/>
          <a:lstStyle/>
          <a:p>
            <a:pPr algn="l" indent="0" marL="0">
              <a:buNone/>
            </a:pPr>
            <a:r>
              <a:rPr lang="en-US" sz="1100" dirty="0">
                <a:solidFill>
                  <a:schemeClr val="tx2"/>
                </a:solidFill>
              </a:rPr>
              <a:t>Login, registration, validation, role-based sessions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Problem Statement &amp; Objectives</a:t>
            </a:r>
            <a:endParaRPr lang="en-US" sz="3000" dirty="0"/>
          </a:p>
        </p:txBody>
      </p:sp>
      <p:sp>
        <p:nvSpPr>
          <p:cNvPr id="3" name="Problem card"/>
          <p:cNvSpPr/>
          <p:nvPr/>
        </p:nvSpPr>
        <p:spPr>
          <a:xfrm>
            <a:off x="457200" y="1143000"/>
            <a:ext cx="4023360" cy="3520440"/>
          </a:xfrm>
          <a:prstGeom prst="roundRect">
            <a:avLst>
              <a:gd name="adj" fmla="val 2078"/>
            </a:avLst>
          </a:prstGeom>
          <a:solidFill>
            <a:schemeClr val="bg2"/>
          </a:solidFill>
          <a:ln w="12700">
            <a:solidFill>
              <a:schemeClr val="bg2"/>
            </a:solidFill>
            <a:prstDash val="solid"/>
          </a:ln>
        </p:spPr>
      </p:sp>
      <p:sp>
        <p:nvSpPr>
          <p:cNvPr id="4" name="Problem icon bg"/>
          <p:cNvSpPr/>
          <p:nvPr/>
        </p:nvSpPr>
        <p:spPr>
          <a:xfrm>
            <a:off x="640080" y="1325880"/>
            <a:ext cx="457200" cy="457200"/>
          </a:xfrm>
          <a:prstGeom prst="ellipse">
            <a:avLst/>
          </a:prstGeom>
          <a:solidFill>
            <a:schemeClr val="accent5"/>
          </a:solidFill>
          <a:ln w="12700">
            <a:solidFill>
              <a:schemeClr val="accent5"/>
            </a:solidFill>
            <a:prstDash val="solid"/>
          </a:ln>
        </p:spPr>
      </p:sp>
      <p:pic>
        <p:nvPicPr>
          <p:cNvPr id="5" name="Problem icon" descr="Problem icon">    </p:cNvPr>
          <p:cNvPicPr>
            <a:picLocks noChangeAspect="1"/>
          </p:cNvPicPr>
          <p:nvPr/>
        </p:nvPicPr>
        <p:blipFill>
          <a:blip r:embed="rId1"/>
          <a:stretch>
            <a:fillRect/>
          </a:stretch>
        </p:blipFill>
        <p:spPr>
          <a:xfrm>
            <a:off x="758952" y="1444752"/>
            <a:ext cx="219456" cy="219456"/>
          </a:xfrm>
          <a:prstGeom prst="rect">
            <a:avLst/>
          </a:prstGeom>
        </p:spPr>
      </p:pic>
      <p:sp>
        <p:nvSpPr>
          <p:cNvPr id="6" name="Text 3"/>
          <p:cNvSpPr txBox="1"/>
          <p:nvPr/>
        </p:nvSpPr>
        <p:spPr>
          <a:xfrm>
            <a:off x="1234440" y="1325880"/>
            <a:ext cx="3017520" cy="457200"/>
          </a:xfrm>
          <a:prstGeom prst="rect">
            <a:avLst/>
          </a:prstGeom>
          <a:noFill/>
          <a:ln/>
        </p:spPr>
        <p:txBody>
          <a:bodyPr wrap="square" lIns="0" tIns="0" rIns="0" bIns="0" rtlCol="0" anchor="ctr"/>
          <a:lstStyle/>
          <a:p>
            <a:pPr algn="l" indent="0" marL="0">
              <a:buNone/>
            </a:pPr>
            <a:r>
              <a:rPr lang="en-US" sz="2000" b="1" dirty="0">
                <a:solidFill>
                  <a:schemeClr val="tx1"/>
                </a:solidFill>
              </a:rPr>
              <a:t>The Problem</a:t>
            </a:r>
            <a:endParaRPr lang="en-US" sz="2000" dirty="0"/>
          </a:p>
        </p:txBody>
      </p:sp>
      <p:sp>
        <p:nvSpPr>
          <p:cNvPr id="7" name="Text 4"/>
          <p:cNvSpPr txBox="1"/>
          <p:nvPr/>
        </p:nvSpPr>
        <p:spPr>
          <a:xfrm>
            <a:off x="685800" y="2011680"/>
            <a:ext cx="3611880" cy="2468880"/>
          </a:xfrm>
          <a:prstGeom prst="rect">
            <a:avLst/>
          </a:prstGeom>
          <a:noFill/>
          <a:ln/>
        </p:spPr>
        <p:txBody>
          <a:bodyPr wrap="square" lIns="0" tIns="0" rIns="0" bIns="0" rtlCol="0" anchor="t"/>
          <a:lstStyle/>
          <a:p>
            <a:pPr algn="l" marL="342900" indent="-342900">
              <a:spcAft>
                <a:spcPts val="1400"/>
              </a:spcAft>
              <a:buSzPct val="100000"/>
              <a:buChar char="•"/>
            </a:pPr>
            <a:r>
              <a:rPr lang="en-US" sz="1400" dirty="0">
                <a:solidFill>
                  <a:schemeClr val="tx1"/>
                </a:solidFill>
              </a:rPr>
              <a:t>Informal pinboards and security counters with limited hours</a:t>
            </a:r>
            <a:endParaRPr lang="en-US" sz="1400" dirty="0"/>
          </a:p>
          <a:p>
            <a:pPr algn="l" marL="342900" indent="-342900">
              <a:spcAft>
                <a:spcPts val="1400"/>
              </a:spcAft>
              <a:buSzPct val="100000"/>
              <a:buChar char="•"/>
            </a:pPr>
            <a:r>
              <a:rPr lang="en-US" sz="1400" dirty="0">
                <a:solidFill>
                  <a:schemeClr val="tx1"/>
                </a:solidFill>
              </a:rPr>
              <a:t>Scattered social-media groups: high noise, low reach</a:t>
            </a:r>
            <a:endParaRPr lang="en-US" sz="1400" dirty="0"/>
          </a:p>
          <a:p>
            <a:pPr algn="l" marL="342900" indent="-342900">
              <a:spcAft>
                <a:spcPts val="1400"/>
              </a:spcAft>
              <a:buSzPct val="100000"/>
              <a:buChar char="•"/>
            </a:pPr>
            <a:r>
              <a:rPr lang="en-US" sz="1400" dirty="0">
                <a:solidFill>
                  <a:schemeClr val="tx1"/>
                </a:solidFill>
              </a:rPr>
              <a:t>No remote search, and a high risk of fraudulent claims</a:t>
            </a:r>
            <a:endParaRPr lang="en-US" sz="1400" dirty="0"/>
          </a:p>
          <a:p>
            <a:pPr algn="l" marL="342900" indent="-342900">
              <a:spcAft>
                <a:spcPts val="1400"/>
              </a:spcAft>
              <a:buSzPct val="100000"/>
              <a:buChar char="•"/>
            </a:pPr>
            <a:r>
              <a:rPr lang="en-US" sz="1400" dirty="0">
                <a:solidFill>
                  <a:schemeClr val="tx1"/>
                </a:solidFill>
              </a:rPr>
              <a:t>No audit trail showing items reached the real owner</a:t>
            </a:r>
            <a:endParaRPr lang="en-US" sz="1400" dirty="0"/>
          </a:p>
        </p:txBody>
      </p:sp>
      <p:sp>
        <p:nvSpPr>
          <p:cNvPr id="8" name="Objectives card"/>
          <p:cNvSpPr/>
          <p:nvPr/>
        </p:nvSpPr>
        <p:spPr>
          <a:xfrm>
            <a:off x="4663440" y="1143000"/>
            <a:ext cx="4023360" cy="3520440"/>
          </a:xfrm>
          <a:prstGeom prst="roundRect">
            <a:avLst>
              <a:gd name="adj" fmla="val 2078"/>
            </a:avLst>
          </a:prstGeom>
          <a:solidFill>
            <a:schemeClr val="tx1"/>
          </a:solidFill>
          <a:ln w="12700">
            <a:solidFill>
              <a:schemeClr val="tx1"/>
            </a:solidFill>
            <a:prstDash val="solid"/>
          </a:ln>
        </p:spPr>
      </p:sp>
      <p:sp>
        <p:nvSpPr>
          <p:cNvPr id="9" name="Objectives icon bg"/>
          <p:cNvSpPr/>
          <p:nvPr/>
        </p:nvSpPr>
        <p:spPr>
          <a:xfrm>
            <a:off x="4846320" y="1325880"/>
            <a:ext cx="457200" cy="457200"/>
          </a:xfrm>
          <a:prstGeom prst="ellipse">
            <a:avLst/>
          </a:prstGeom>
          <a:solidFill>
            <a:schemeClr val="accent1"/>
          </a:solidFill>
          <a:ln w="12700">
            <a:solidFill>
              <a:schemeClr val="accent1"/>
            </a:solidFill>
            <a:prstDash val="solid"/>
          </a:ln>
        </p:spPr>
      </p:sp>
      <p:pic>
        <p:nvPicPr>
          <p:cNvPr id="10" name="Objectives icon" descr="Objectives icon">    </p:cNvPr>
          <p:cNvPicPr>
            <a:picLocks noChangeAspect="1"/>
          </p:cNvPicPr>
          <p:nvPr/>
        </p:nvPicPr>
        <p:blipFill>
          <a:blip r:embed="rId2"/>
          <a:stretch>
            <a:fillRect/>
          </a:stretch>
        </p:blipFill>
        <p:spPr>
          <a:xfrm>
            <a:off x="4965192" y="1444752"/>
            <a:ext cx="219456" cy="219456"/>
          </a:xfrm>
          <a:prstGeom prst="rect">
            <a:avLst/>
          </a:prstGeom>
        </p:spPr>
      </p:pic>
      <p:sp>
        <p:nvSpPr>
          <p:cNvPr id="11" name="Text 7"/>
          <p:cNvSpPr txBox="1"/>
          <p:nvPr/>
        </p:nvSpPr>
        <p:spPr>
          <a:xfrm>
            <a:off x="5440680" y="1325880"/>
            <a:ext cx="3017520" cy="457200"/>
          </a:xfrm>
          <a:prstGeom prst="rect">
            <a:avLst/>
          </a:prstGeom>
          <a:noFill/>
          <a:ln/>
        </p:spPr>
        <p:txBody>
          <a:bodyPr wrap="square" lIns="0" tIns="0" rIns="0" bIns="0" rtlCol="0" anchor="ctr"/>
          <a:lstStyle/>
          <a:p>
            <a:pPr algn="l" indent="0" marL="0">
              <a:buNone/>
            </a:pPr>
            <a:r>
              <a:rPr lang="en-US" sz="2000" b="1" dirty="0">
                <a:solidFill>
                  <a:schemeClr val="bg1"/>
                </a:solidFill>
              </a:rPr>
              <a:t>Our Objectives</a:t>
            </a:r>
            <a:endParaRPr lang="en-US" sz="2000" dirty="0"/>
          </a:p>
        </p:txBody>
      </p:sp>
      <p:sp>
        <p:nvSpPr>
          <p:cNvPr id="12" name="Text 8"/>
          <p:cNvSpPr txBox="1"/>
          <p:nvPr/>
        </p:nvSpPr>
        <p:spPr>
          <a:xfrm>
            <a:off x="4892040" y="2011680"/>
            <a:ext cx="3611880" cy="2560320"/>
          </a:xfrm>
          <a:prstGeom prst="rect">
            <a:avLst/>
          </a:prstGeom>
          <a:noFill/>
          <a:ln/>
        </p:spPr>
        <p:txBody>
          <a:bodyPr wrap="square" lIns="0" tIns="0" rIns="0" bIns="0" rtlCol="0" anchor="t"/>
          <a:lstStyle/>
          <a:p>
            <a:pPr algn="l" marL="342900" indent="-342900">
              <a:spcAft>
                <a:spcPts val="500"/>
              </a:spcAft>
              <a:buSzPct val="100000"/>
              <a:buFont typeface="+mj-lt"/>
              <a:buAutoNum type="arabicPeriod" startAt="1"/>
            </a:pPr>
            <a:r>
              <a:rPr lang="en-US" sz="1400" dirty="0">
                <a:solidFill>
                  <a:schemeClr val="bg1"/>
                </a:solidFill>
              </a:rPr>
              <a:t>One central platform to report, track and claim items</a:t>
            </a:r>
            <a:endParaRPr lang="en-US" sz="1400" dirty="0"/>
          </a:p>
          <a:p>
            <a:pPr algn="l" marL="342900" indent="-342900">
              <a:spcAft>
                <a:spcPts val="500"/>
              </a:spcAft>
              <a:buSzPct val="100000"/>
              <a:buFont typeface="+mj-lt"/>
              <a:buAutoNum type="arabicPeriod" startAt="1"/>
            </a:pPr>
            <a:r>
              <a:rPr lang="en-US" sz="1400" dirty="0">
                <a:solidFill>
                  <a:schemeClr val="bg1"/>
                </a:solidFill>
              </a:rPr>
              <a:t>Role-based access: student self-service vs admin verification</a:t>
            </a:r>
            <a:endParaRPr lang="en-US" sz="1400" dirty="0"/>
          </a:p>
          <a:p>
            <a:pPr algn="l" marL="342900" indent="-342900">
              <a:spcAft>
                <a:spcPts val="500"/>
              </a:spcAft>
              <a:buSzPct val="100000"/>
              <a:buFont typeface="+mj-lt"/>
              <a:buAutoNum type="arabicPeriod" startAt="1"/>
            </a:pPr>
            <a:r>
              <a:rPr lang="en-US" sz="1400" dirty="0">
                <a:solidFill>
                  <a:schemeClr val="bg1"/>
                </a:solidFill>
              </a:rPr>
              <a:t>Automated rule-based matching of lost and found reports</a:t>
            </a:r>
            <a:endParaRPr lang="en-US" sz="1400" dirty="0"/>
          </a:p>
          <a:p>
            <a:pPr algn="l" marL="342900" indent="-342900">
              <a:spcAft>
                <a:spcPts val="500"/>
              </a:spcAft>
              <a:buSzPct val="100000"/>
              <a:buFont typeface="+mj-lt"/>
              <a:buAutoNum type="arabicPeriod" startAt="1"/>
            </a:pPr>
            <a:r>
              <a:rPr lang="en-US" sz="1400" dirty="0">
                <a:solidFill>
                  <a:schemeClr val="bg1"/>
                </a:solidFill>
              </a:rPr>
              <a:t>Resilient data: 3NF schema, parameterized SQL, auto bootstrap</a:t>
            </a:r>
            <a:endParaRPr lang="en-US" sz="1400" dirty="0"/>
          </a:p>
          <a:p>
            <a:pPr algn="l" marL="342900" indent="-342900">
              <a:spcAft>
                <a:spcPts val="500"/>
              </a:spcAft>
              <a:buSzPct val="100000"/>
              <a:buFont typeface="+mj-lt"/>
              <a:buAutoNum type="arabicPeriod" startAt="1"/>
            </a:pPr>
            <a:r>
              <a:rPr lang="en-US" sz="1400" dirty="0">
                <a:solidFill>
                  <a:schemeClr val="bg1"/>
                </a:solidFill>
              </a:rPr>
              <a:t>Portable, zero-install Windows executable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Key Features</a:t>
            </a:r>
            <a:endParaRPr lang="en-US" sz="3000" dirty="0"/>
          </a:p>
        </p:txBody>
      </p:sp>
      <p:sp>
        <p:nvSpPr>
          <p:cNvPr id="3" name="Feature card 1"/>
          <p:cNvSpPr/>
          <p:nvPr/>
        </p:nvSpPr>
        <p:spPr>
          <a:xfrm>
            <a:off x="457200" y="114300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Feature icon 1 bg"/>
          <p:cNvSpPr/>
          <p:nvPr/>
        </p:nvSpPr>
        <p:spPr>
          <a:xfrm>
            <a:off x="640080" y="1307592"/>
            <a:ext cx="502920" cy="502920"/>
          </a:xfrm>
          <a:prstGeom prst="ellipse">
            <a:avLst/>
          </a:prstGeom>
          <a:solidFill>
            <a:schemeClr val="accent2"/>
          </a:solidFill>
          <a:ln w="12700">
            <a:solidFill>
              <a:schemeClr val="accent2"/>
            </a:solidFill>
            <a:prstDash val="solid"/>
          </a:ln>
        </p:spPr>
      </p:sp>
      <p:pic>
        <p:nvPicPr>
          <p:cNvPr id="5" name="Feature icon 1" descr="Feature icon 1">    </p:cNvPr>
          <p:cNvPicPr>
            <a:picLocks noChangeAspect="1"/>
          </p:cNvPicPr>
          <p:nvPr/>
        </p:nvPicPr>
        <p:blipFill>
          <a:blip r:embed="rId1"/>
          <a:stretch>
            <a:fillRect/>
          </a:stretch>
        </p:blipFill>
        <p:spPr>
          <a:xfrm>
            <a:off x="770839" y="1438351"/>
            <a:ext cx="241402" cy="241402"/>
          </a:xfrm>
          <a:prstGeom prst="rect">
            <a:avLst/>
          </a:prstGeom>
        </p:spPr>
      </p:pic>
      <p:sp>
        <p:nvSpPr>
          <p:cNvPr id="6" name="Text 3"/>
          <p:cNvSpPr txBox="1"/>
          <p:nvPr/>
        </p:nvSpPr>
        <p:spPr>
          <a:xfrm>
            <a:off x="1280160" y="1307592"/>
            <a:ext cx="3063240" cy="502920"/>
          </a:xfrm>
          <a:prstGeom prst="rect">
            <a:avLst/>
          </a:prstGeom>
          <a:noFill/>
          <a:ln/>
        </p:spPr>
        <p:txBody>
          <a:bodyPr wrap="square" lIns="0" tIns="0" rIns="0" bIns="0" rtlCol="0" anchor="ctr"/>
          <a:lstStyle/>
          <a:p>
            <a:pPr algn="l" indent="0" marL="0">
              <a:buNone/>
            </a:pPr>
            <a:r>
              <a:rPr lang="en-US" sz="1600" b="1" dirty="0">
                <a:solidFill>
                  <a:schemeClr val="tx1"/>
                </a:solidFill>
              </a:rPr>
              <a:t>Student Self-Service Portal</a:t>
            </a:r>
            <a:endParaRPr lang="en-US" sz="1600" dirty="0"/>
          </a:p>
        </p:txBody>
      </p:sp>
      <p:sp>
        <p:nvSpPr>
          <p:cNvPr id="7" name="Text 4"/>
          <p:cNvSpPr txBox="1"/>
          <p:nvPr/>
        </p:nvSpPr>
        <p:spPr>
          <a:xfrm>
            <a:off x="685800" y="1947672"/>
            <a:ext cx="3657600" cy="777240"/>
          </a:xfrm>
          <a:prstGeom prst="rect">
            <a:avLst/>
          </a:prstGeom>
          <a:noFill/>
          <a:ln/>
        </p:spPr>
        <p:txBody>
          <a:bodyPr wrap="square" lIns="0" tIns="0" rIns="0" bIns="0" rtlCol="0" anchor="t"/>
          <a:lstStyle/>
          <a:p>
            <a:pPr algn="l" marL="342900" indent="-342900">
              <a:spcAft>
                <a:spcPts val="300"/>
              </a:spcAft>
              <a:buSzPct val="100000"/>
              <a:buChar char="•"/>
            </a:pPr>
            <a:r>
              <a:rPr lang="en-US" sz="1200" dirty="0">
                <a:solidFill>
                  <a:schemeClr val="tx2"/>
                </a:solidFill>
              </a:rPr>
              <a:t>Report lost or found items with contact details</a:t>
            </a:r>
            <a:endParaRPr lang="en-US" sz="1200" dirty="0"/>
          </a:p>
          <a:p>
            <a:pPr algn="l" marL="342900" indent="-342900">
              <a:spcAft>
                <a:spcPts val="300"/>
              </a:spcAft>
              <a:buSzPct val="100000"/>
              <a:buChar char="•"/>
            </a:pPr>
            <a:r>
              <a:rPr lang="en-US" sz="1200" dirty="0">
                <a:solidFill>
                  <a:schemeClr val="tx2"/>
                </a:solidFill>
              </a:rPr>
              <a:t>Track status: Pending, Approved, Rejected, Claimed</a:t>
            </a:r>
            <a:endParaRPr lang="en-US" sz="1200" dirty="0"/>
          </a:p>
          <a:p>
            <a:pPr algn="l" marL="342900" indent="-342900">
              <a:spcAft>
                <a:spcPts val="300"/>
              </a:spcAft>
              <a:buSzPct val="100000"/>
              <a:buChar char="•"/>
            </a:pPr>
            <a:r>
              <a:rPr lang="en-US" sz="1200" dirty="0">
                <a:solidFill>
                  <a:schemeClr val="tx2"/>
                </a:solidFill>
              </a:rPr>
              <a:t>In-app approval alerts and claim history</a:t>
            </a:r>
            <a:endParaRPr lang="en-US" sz="1200" dirty="0"/>
          </a:p>
        </p:txBody>
      </p:sp>
      <p:sp>
        <p:nvSpPr>
          <p:cNvPr id="8" name="Feature card 2"/>
          <p:cNvSpPr/>
          <p:nvPr/>
        </p:nvSpPr>
        <p:spPr>
          <a:xfrm>
            <a:off x="4663440" y="114300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Feature icon 2 bg"/>
          <p:cNvSpPr/>
          <p:nvPr/>
        </p:nvSpPr>
        <p:spPr>
          <a:xfrm>
            <a:off x="4846320" y="1307592"/>
            <a:ext cx="502920" cy="502920"/>
          </a:xfrm>
          <a:prstGeom prst="ellipse">
            <a:avLst/>
          </a:prstGeom>
          <a:solidFill>
            <a:schemeClr val="accent2"/>
          </a:solidFill>
          <a:ln w="12700">
            <a:solidFill>
              <a:schemeClr val="accent2"/>
            </a:solidFill>
            <a:prstDash val="solid"/>
          </a:ln>
        </p:spPr>
      </p:sp>
      <p:pic>
        <p:nvPicPr>
          <p:cNvPr id="10" name="Feature icon 2" descr="Feature icon 2">    </p:cNvPr>
          <p:cNvPicPr>
            <a:picLocks noChangeAspect="1"/>
          </p:cNvPicPr>
          <p:nvPr/>
        </p:nvPicPr>
        <p:blipFill>
          <a:blip r:embed="rId2"/>
          <a:stretch>
            <a:fillRect/>
          </a:stretch>
        </p:blipFill>
        <p:spPr>
          <a:xfrm>
            <a:off x="4977079" y="1438351"/>
            <a:ext cx="241402" cy="241402"/>
          </a:xfrm>
          <a:prstGeom prst="rect">
            <a:avLst/>
          </a:prstGeom>
        </p:spPr>
      </p:pic>
      <p:sp>
        <p:nvSpPr>
          <p:cNvPr id="11" name="Text 7"/>
          <p:cNvSpPr txBox="1"/>
          <p:nvPr/>
        </p:nvSpPr>
        <p:spPr>
          <a:xfrm>
            <a:off x="5486400" y="1307592"/>
            <a:ext cx="3063240" cy="502920"/>
          </a:xfrm>
          <a:prstGeom prst="rect">
            <a:avLst/>
          </a:prstGeom>
          <a:noFill/>
          <a:ln/>
        </p:spPr>
        <p:txBody>
          <a:bodyPr wrap="square" lIns="0" tIns="0" rIns="0" bIns="0" rtlCol="0" anchor="ctr"/>
          <a:lstStyle/>
          <a:p>
            <a:pPr algn="l" indent="0" marL="0">
              <a:buNone/>
            </a:pPr>
            <a:r>
              <a:rPr lang="en-US" sz="1600" b="1" dirty="0">
                <a:solidFill>
                  <a:schemeClr val="tx1"/>
                </a:solidFill>
              </a:rPr>
              <a:t>Admin Governance Console</a:t>
            </a:r>
            <a:endParaRPr lang="en-US" sz="1600" dirty="0"/>
          </a:p>
        </p:txBody>
      </p:sp>
      <p:sp>
        <p:nvSpPr>
          <p:cNvPr id="12" name="Text 8"/>
          <p:cNvSpPr txBox="1"/>
          <p:nvPr/>
        </p:nvSpPr>
        <p:spPr>
          <a:xfrm>
            <a:off x="4892040" y="1947672"/>
            <a:ext cx="3657600" cy="777240"/>
          </a:xfrm>
          <a:prstGeom prst="rect">
            <a:avLst/>
          </a:prstGeom>
          <a:noFill/>
          <a:ln/>
        </p:spPr>
        <p:txBody>
          <a:bodyPr wrap="square" lIns="0" tIns="0" rIns="0" bIns="0" rtlCol="0" anchor="t"/>
          <a:lstStyle/>
          <a:p>
            <a:pPr algn="l" marL="342900" indent="-342900">
              <a:spcAft>
                <a:spcPts val="300"/>
              </a:spcAft>
              <a:buSzPct val="100000"/>
              <a:buChar char="•"/>
            </a:pPr>
            <a:r>
              <a:rPr lang="en-US" sz="1200" dirty="0">
                <a:solidFill>
                  <a:schemeClr val="tx2"/>
                </a:solidFill>
              </a:rPr>
              <a:t>Verification queue with one-click approve or reject</a:t>
            </a:r>
            <a:endParaRPr lang="en-US" sz="1200" dirty="0"/>
          </a:p>
          <a:p>
            <a:pPr algn="l" marL="342900" indent="-342900">
              <a:spcAft>
                <a:spcPts val="300"/>
              </a:spcAft>
              <a:buSzPct val="100000"/>
              <a:buChar char="•"/>
            </a:pPr>
            <a:r>
              <a:rPr lang="en-US" sz="1200" dirty="0">
                <a:solidFill>
                  <a:schemeClr val="tx2"/>
                </a:solidFill>
              </a:rPr>
              <a:t>Direct desk entry for items handed to staff</a:t>
            </a:r>
            <a:endParaRPr lang="en-US" sz="1200" dirty="0"/>
          </a:p>
          <a:p>
            <a:pPr algn="l" marL="342900" indent="-342900">
              <a:spcAft>
                <a:spcPts val="300"/>
              </a:spcAft>
              <a:buSzPct val="100000"/>
              <a:buChar char="•"/>
            </a:pPr>
            <a:r>
              <a:rPr lang="en-US" sz="1200" dirty="0">
                <a:solidFill>
                  <a:schemeClr val="tx2"/>
                </a:solidFill>
              </a:rPr>
              <a:t>Student directory and claimed-items audit</a:t>
            </a:r>
            <a:endParaRPr lang="en-US" sz="1200" dirty="0"/>
          </a:p>
        </p:txBody>
      </p:sp>
      <p:sp>
        <p:nvSpPr>
          <p:cNvPr id="13" name="Feature card 3"/>
          <p:cNvSpPr/>
          <p:nvPr/>
        </p:nvSpPr>
        <p:spPr>
          <a:xfrm>
            <a:off x="457200" y="292608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Feature icon 3 bg"/>
          <p:cNvSpPr/>
          <p:nvPr/>
        </p:nvSpPr>
        <p:spPr>
          <a:xfrm>
            <a:off x="640080" y="3090672"/>
            <a:ext cx="502920" cy="502920"/>
          </a:xfrm>
          <a:prstGeom prst="ellipse">
            <a:avLst/>
          </a:prstGeom>
          <a:solidFill>
            <a:schemeClr val="accent2"/>
          </a:solidFill>
          <a:ln w="12700">
            <a:solidFill>
              <a:schemeClr val="accent2"/>
            </a:solidFill>
            <a:prstDash val="solid"/>
          </a:ln>
        </p:spPr>
      </p:sp>
      <p:pic>
        <p:nvPicPr>
          <p:cNvPr id="15" name="Feature icon 3" descr="Feature icon 3">    </p:cNvPr>
          <p:cNvPicPr>
            <a:picLocks noChangeAspect="1"/>
          </p:cNvPicPr>
          <p:nvPr/>
        </p:nvPicPr>
        <p:blipFill>
          <a:blip r:embed="rId3"/>
          <a:stretch>
            <a:fillRect/>
          </a:stretch>
        </p:blipFill>
        <p:spPr>
          <a:xfrm>
            <a:off x="770839" y="3221431"/>
            <a:ext cx="241402" cy="241402"/>
          </a:xfrm>
          <a:prstGeom prst="rect">
            <a:avLst/>
          </a:prstGeom>
        </p:spPr>
      </p:pic>
      <p:sp>
        <p:nvSpPr>
          <p:cNvPr id="16" name="Text 11"/>
          <p:cNvSpPr txBox="1"/>
          <p:nvPr/>
        </p:nvSpPr>
        <p:spPr>
          <a:xfrm>
            <a:off x="1280160" y="3090672"/>
            <a:ext cx="3063240" cy="502920"/>
          </a:xfrm>
          <a:prstGeom prst="rect">
            <a:avLst/>
          </a:prstGeom>
          <a:noFill/>
          <a:ln/>
        </p:spPr>
        <p:txBody>
          <a:bodyPr wrap="square" lIns="0" tIns="0" rIns="0" bIns="0" rtlCol="0" anchor="ctr"/>
          <a:lstStyle/>
          <a:p>
            <a:pPr algn="l" indent="0" marL="0">
              <a:buNone/>
            </a:pPr>
            <a:r>
              <a:rPr lang="en-US" sz="1600" b="1" dirty="0">
                <a:solidFill>
                  <a:schemeClr val="tx1"/>
                </a:solidFill>
              </a:rPr>
              <a:t>Smart Matching Engine</a:t>
            </a:r>
            <a:endParaRPr lang="en-US" sz="1600" dirty="0"/>
          </a:p>
        </p:txBody>
      </p:sp>
      <p:sp>
        <p:nvSpPr>
          <p:cNvPr id="17" name="Text 12"/>
          <p:cNvSpPr txBox="1"/>
          <p:nvPr/>
        </p:nvSpPr>
        <p:spPr>
          <a:xfrm>
            <a:off x="685800" y="3730752"/>
            <a:ext cx="3657600" cy="777240"/>
          </a:xfrm>
          <a:prstGeom prst="rect">
            <a:avLst/>
          </a:prstGeom>
          <a:noFill/>
          <a:ln/>
        </p:spPr>
        <p:txBody>
          <a:bodyPr wrap="square" lIns="0" tIns="0" rIns="0" bIns="0" rtlCol="0" anchor="t"/>
          <a:lstStyle/>
          <a:p>
            <a:pPr algn="l" marL="342900" indent="-342900">
              <a:spcAft>
                <a:spcPts val="300"/>
              </a:spcAft>
              <a:buSzPct val="100000"/>
              <a:buChar char="•"/>
            </a:pPr>
            <a:r>
              <a:rPr lang="en-US" sz="1200" dirty="0">
                <a:solidFill>
                  <a:schemeClr val="tx2"/>
                </a:solidFill>
              </a:rPr>
              <a:t>Category check plus title keyword overlap</a:t>
            </a:r>
            <a:endParaRPr lang="en-US" sz="1200" dirty="0"/>
          </a:p>
          <a:p>
            <a:pPr algn="l" marL="342900" indent="-342900">
              <a:spcAft>
                <a:spcPts val="300"/>
              </a:spcAft>
              <a:buSzPct val="100000"/>
              <a:buChar char="•"/>
            </a:pPr>
            <a:r>
              <a:rPr lang="en-US" sz="1200" dirty="0">
                <a:solidFill>
                  <a:schemeClr val="tx2"/>
                </a:solidFill>
              </a:rPr>
              <a:t>Flags possible lost-and-found pairs</a:t>
            </a:r>
            <a:endParaRPr lang="en-US" sz="1200" dirty="0"/>
          </a:p>
          <a:p>
            <a:pPr algn="l" marL="342900" indent="-342900">
              <a:spcAft>
                <a:spcPts val="300"/>
              </a:spcAft>
              <a:buSzPct val="100000"/>
              <a:buChar char="•"/>
            </a:pPr>
            <a:r>
              <a:rPr lang="en-US" sz="1200" dirty="0">
                <a:solidFill>
                  <a:schemeClr val="tx2"/>
                </a:solidFill>
              </a:rPr>
              <a:t>Transparent rules in MatchingService.java</a:t>
            </a:r>
            <a:endParaRPr lang="en-US" sz="1200" dirty="0"/>
          </a:p>
        </p:txBody>
      </p:sp>
      <p:sp>
        <p:nvSpPr>
          <p:cNvPr id="18" name="Feature card 4"/>
          <p:cNvSpPr/>
          <p:nvPr/>
        </p:nvSpPr>
        <p:spPr>
          <a:xfrm>
            <a:off x="4663440" y="2926080"/>
            <a:ext cx="40233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Feature icon 4 bg"/>
          <p:cNvSpPr/>
          <p:nvPr/>
        </p:nvSpPr>
        <p:spPr>
          <a:xfrm>
            <a:off x="4846320" y="3090672"/>
            <a:ext cx="502920" cy="502920"/>
          </a:xfrm>
          <a:prstGeom prst="ellipse">
            <a:avLst/>
          </a:prstGeom>
          <a:solidFill>
            <a:schemeClr val="accent2"/>
          </a:solidFill>
          <a:ln w="12700">
            <a:solidFill>
              <a:schemeClr val="accent2"/>
            </a:solidFill>
            <a:prstDash val="solid"/>
          </a:ln>
        </p:spPr>
      </p:sp>
      <p:pic>
        <p:nvPicPr>
          <p:cNvPr id="20" name="Feature icon 4" descr="Feature icon 4">    </p:cNvPr>
          <p:cNvPicPr>
            <a:picLocks noChangeAspect="1"/>
          </p:cNvPicPr>
          <p:nvPr/>
        </p:nvPicPr>
        <p:blipFill>
          <a:blip r:embed="rId4"/>
          <a:stretch>
            <a:fillRect/>
          </a:stretch>
        </p:blipFill>
        <p:spPr>
          <a:xfrm>
            <a:off x="4977079" y="3221431"/>
            <a:ext cx="241402" cy="241402"/>
          </a:xfrm>
          <a:prstGeom prst="rect">
            <a:avLst/>
          </a:prstGeom>
        </p:spPr>
      </p:pic>
      <p:sp>
        <p:nvSpPr>
          <p:cNvPr id="21" name="Text 15"/>
          <p:cNvSpPr txBox="1"/>
          <p:nvPr/>
        </p:nvSpPr>
        <p:spPr>
          <a:xfrm>
            <a:off x="5486400" y="3090672"/>
            <a:ext cx="3063240" cy="502920"/>
          </a:xfrm>
          <a:prstGeom prst="rect">
            <a:avLst/>
          </a:prstGeom>
          <a:noFill/>
          <a:ln/>
        </p:spPr>
        <p:txBody>
          <a:bodyPr wrap="square" lIns="0" tIns="0" rIns="0" bIns="0" rtlCol="0" anchor="ctr"/>
          <a:lstStyle/>
          <a:p>
            <a:pPr algn="l" indent="0" marL="0">
              <a:buNone/>
            </a:pPr>
            <a:r>
              <a:rPr lang="en-US" sz="1600" b="1" dirty="0">
                <a:solidFill>
                  <a:schemeClr val="tx1"/>
                </a:solidFill>
              </a:rPr>
              <a:t>Cloud Connection Lifecycle</a:t>
            </a:r>
            <a:endParaRPr lang="en-US" sz="1600" dirty="0"/>
          </a:p>
        </p:txBody>
      </p:sp>
      <p:sp>
        <p:nvSpPr>
          <p:cNvPr id="22" name="Text 16"/>
          <p:cNvSpPr txBox="1"/>
          <p:nvPr/>
        </p:nvSpPr>
        <p:spPr>
          <a:xfrm>
            <a:off x="4892040" y="3730752"/>
            <a:ext cx="3657600" cy="777240"/>
          </a:xfrm>
          <a:prstGeom prst="rect">
            <a:avLst/>
          </a:prstGeom>
          <a:noFill/>
          <a:ln/>
        </p:spPr>
        <p:txBody>
          <a:bodyPr wrap="square" lIns="0" tIns="0" rIns="0" bIns="0" rtlCol="0" anchor="t"/>
          <a:lstStyle/>
          <a:p>
            <a:pPr algn="l" marL="342900" indent="-342900">
              <a:spcAft>
                <a:spcPts val="300"/>
              </a:spcAft>
              <a:buSzPct val="100000"/>
              <a:buChar char="•"/>
            </a:pPr>
            <a:r>
              <a:rPr lang="en-US" sz="1200" dirty="0">
                <a:solidFill>
                  <a:schemeClr val="tx2"/>
                </a:solidFill>
              </a:rPr>
              <a:t>Releases the DB connection on window close</a:t>
            </a:r>
            <a:endParaRPr lang="en-US" sz="1200" dirty="0"/>
          </a:p>
          <a:p>
            <a:pPr algn="l" marL="342900" indent="-342900">
              <a:spcAft>
                <a:spcPts val="300"/>
              </a:spcAft>
              <a:buSzPct val="100000"/>
              <a:buChar char="•"/>
            </a:pPr>
            <a:r>
              <a:rPr lang="en-US" sz="1200" dirty="0">
                <a:solidFill>
                  <a:schemeClr val="tx2"/>
                </a:solidFill>
              </a:rPr>
              <a:t>JVM shutdown hook as a safety net</a:t>
            </a:r>
            <a:endParaRPr lang="en-US" sz="1200" dirty="0"/>
          </a:p>
          <a:p>
            <a:pPr algn="l" marL="342900" indent="-342900">
              <a:spcAft>
                <a:spcPts val="300"/>
              </a:spcAft>
              <a:buSzPct val="100000"/>
              <a:buChar char="•"/>
            </a:pPr>
            <a:r>
              <a:rPr lang="en-US" sz="1200" dirty="0">
                <a:solidFill>
                  <a:schemeClr val="tx2"/>
                </a:solidFill>
              </a:rPr>
              <a:t>Liveness check and timeouts for network drops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Technology Stack</a:t>
            </a:r>
            <a:endParaRPr lang="en-US" sz="3000" dirty="0"/>
          </a:p>
        </p:txBody>
      </p:sp>
      <p:sp>
        <p:nvSpPr>
          <p:cNvPr id="3" name="Tech card 1"/>
          <p:cNvSpPr/>
          <p:nvPr/>
        </p:nvSpPr>
        <p:spPr>
          <a:xfrm>
            <a:off x="457200" y="1143000"/>
            <a:ext cx="265176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80160"/>
            <a:ext cx="2286000" cy="201168"/>
          </a:xfrm>
          <a:prstGeom prst="rect">
            <a:avLst/>
          </a:prstGeom>
          <a:noFill/>
          <a:ln/>
        </p:spPr>
        <p:txBody>
          <a:bodyPr wrap="square" lIns="0" tIns="0" rIns="0" bIns="0" rtlCol="0" anchor="t"/>
          <a:lstStyle/>
          <a:p>
            <a:pPr algn="l" indent="0" marL="0">
              <a:buNone/>
            </a:pPr>
            <a:r>
              <a:rPr lang="en-US" sz="1000" b="1" dirty="0">
                <a:solidFill>
                  <a:schemeClr val="accent2"/>
                </a:solidFill>
              </a:rPr>
              <a:t>LANGUAGE</a:t>
            </a:r>
            <a:endParaRPr lang="en-US" sz="1000" dirty="0"/>
          </a:p>
        </p:txBody>
      </p:sp>
      <p:sp>
        <p:nvSpPr>
          <p:cNvPr id="5" name="Text 3"/>
          <p:cNvSpPr txBox="1"/>
          <p:nvPr/>
        </p:nvSpPr>
        <p:spPr>
          <a:xfrm>
            <a:off x="640080" y="1527048"/>
            <a:ext cx="2286000" cy="320040"/>
          </a:xfrm>
          <a:prstGeom prst="rect">
            <a:avLst/>
          </a:prstGeom>
          <a:noFill/>
          <a:ln/>
        </p:spPr>
        <p:txBody>
          <a:bodyPr wrap="square" lIns="0" tIns="0" rIns="0" bIns="0" rtlCol="0" anchor="t"/>
          <a:lstStyle/>
          <a:p>
            <a:pPr algn="l" indent="0" marL="0">
              <a:buNone/>
            </a:pPr>
            <a:r>
              <a:rPr lang="en-US" sz="1600" b="1" dirty="0">
                <a:solidFill>
                  <a:schemeClr val="tx1"/>
                </a:solidFill>
              </a:rPr>
              <a:t>Java 17</a:t>
            </a:r>
            <a:endParaRPr lang="en-US" sz="1600" dirty="0"/>
          </a:p>
        </p:txBody>
      </p:sp>
      <p:sp>
        <p:nvSpPr>
          <p:cNvPr id="6" name="Text 4"/>
          <p:cNvSpPr txBox="1"/>
          <p:nvPr/>
        </p:nvSpPr>
        <p:spPr>
          <a:xfrm>
            <a:off x="640080" y="1892808"/>
            <a:ext cx="2286000" cy="411480"/>
          </a:xfrm>
          <a:prstGeom prst="rect">
            <a:avLst/>
          </a:prstGeom>
          <a:noFill/>
          <a:ln/>
        </p:spPr>
        <p:txBody>
          <a:bodyPr wrap="square" lIns="0" tIns="0" rIns="0" bIns="0" rtlCol="0" anchor="t"/>
          <a:lstStyle/>
          <a:p>
            <a:pPr algn="l" indent="0" marL="0">
              <a:buNone/>
            </a:pPr>
            <a:r>
              <a:rPr lang="en-US" sz="1200" dirty="0">
                <a:solidFill>
                  <a:schemeClr val="tx2"/>
                </a:solidFill>
              </a:rPr>
              <a:t>Core logic, event handling, multithreading</a:t>
            </a:r>
            <a:endParaRPr lang="en-US" sz="1200" dirty="0"/>
          </a:p>
        </p:txBody>
      </p:sp>
      <p:sp>
        <p:nvSpPr>
          <p:cNvPr id="7" name="Tech card 2"/>
          <p:cNvSpPr/>
          <p:nvPr/>
        </p:nvSpPr>
        <p:spPr>
          <a:xfrm>
            <a:off x="3246120" y="1143000"/>
            <a:ext cx="265176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3429000" y="1280160"/>
            <a:ext cx="2286000" cy="201168"/>
          </a:xfrm>
          <a:prstGeom prst="rect">
            <a:avLst/>
          </a:prstGeom>
          <a:noFill/>
          <a:ln/>
        </p:spPr>
        <p:txBody>
          <a:bodyPr wrap="square" lIns="0" tIns="0" rIns="0" bIns="0" rtlCol="0" anchor="t"/>
          <a:lstStyle/>
          <a:p>
            <a:pPr algn="l" indent="0" marL="0">
              <a:buNone/>
            </a:pPr>
            <a:r>
              <a:rPr lang="en-US" sz="1000" b="1" dirty="0">
                <a:solidFill>
                  <a:schemeClr val="accent2"/>
                </a:solidFill>
              </a:rPr>
              <a:t>USER INTERFACE</a:t>
            </a:r>
            <a:endParaRPr lang="en-US" sz="1000" dirty="0"/>
          </a:p>
        </p:txBody>
      </p:sp>
      <p:sp>
        <p:nvSpPr>
          <p:cNvPr id="9" name="Text 7"/>
          <p:cNvSpPr txBox="1"/>
          <p:nvPr/>
        </p:nvSpPr>
        <p:spPr>
          <a:xfrm>
            <a:off x="3429000" y="1527048"/>
            <a:ext cx="2286000" cy="320040"/>
          </a:xfrm>
          <a:prstGeom prst="rect">
            <a:avLst/>
          </a:prstGeom>
          <a:noFill/>
          <a:ln/>
        </p:spPr>
        <p:txBody>
          <a:bodyPr wrap="square" lIns="0" tIns="0" rIns="0" bIns="0" rtlCol="0" anchor="t"/>
          <a:lstStyle/>
          <a:p>
            <a:pPr algn="l" indent="0" marL="0">
              <a:buNone/>
            </a:pPr>
            <a:r>
              <a:rPr lang="en-US" sz="1600" b="1" dirty="0">
                <a:solidFill>
                  <a:schemeClr val="tx1"/>
                </a:solidFill>
              </a:rPr>
              <a:t>Java Swing &amp; AWT</a:t>
            </a:r>
            <a:endParaRPr lang="en-US" sz="1600" dirty="0"/>
          </a:p>
        </p:txBody>
      </p:sp>
      <p:sp>
        <p:nvSpPr>
          <p:cNvPr id="10" name="Text 8"/>
          <p:cNvSpPr txBox="1"/>
          <p:nvPr/>
        </p:nvSpPr>
        <p:spPr>
          <a:xfrm>
            <a:off x="3429000" y="1892808"/>
            <a:ext cx="2286000" cy="411480"/>
          </a:xfrm>
          <a:prstGeom prst="rect">
            <a:avLst/>
          </a:prstGeom>
          <a:noFill/>
          <a:ln/>
        </p:spPr>
        <p:txBody>
          <a:bodyPr wrap="square" lIns="0" tIns="0" rIns="0" bIns="0" rtlCol="0" anchor="t"/>
          <a:lstStyle/>
          <a:p>
            <a:pPr algn="l" indent="0" marL="0">
              <a:buNone/>
            </a:pPr>
            <a:r>
              <a:rPr lang="en-US" sz="1200" dirty="0">
                <a:solidFill>
                  <a:schemeClr val="tx2"/>
                </a:solidFill>
              </a:rPr>
              <a:t>Custom dark theme via UITheme.java</a:t>
            </a:r>
            <a:endParaRPr lang="en-US" sz="1200" dirty="0"/>
          </a:p>
        </p:txBody>
      </p:sp>
      <p:sp>
        <p:nvSpPr>
          <p:cNvPr id="11" name="Tech card 3"/>
          <p:cNvSpPr/>
          <p:nvPr/>
        </p:nvSpPr>
        <p:spPr>
          <a:xfrm>
            <a:off x="6035040" y="1143000"/>
            <a:ext cx="265176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6217920" y="1280160"/>
            <a:ext cx="2286000" cy="201168"/>
          </a:xfrm>
          <a:prstGeom prst="rect">
            <a:avLst/>
          </a:prstGeom>
          <a:noFill/>
          <a:ln/>
        </p:spPr>
        <p:txBody>
          <a:bodyPr wrap="square" lIns="0" tIns="0" rIns="0" bIns="0" rtlCol="0" anchor="t"/>
          <a:lstStyle/>
          <a:p>
            <a:pPr algn="l" indent="0" marL="0">
              <a:buNone/>
            </a:pPr>
            <a:r>
              <a:rPr lang="en-US" sz="1000" b="1" dirty="0">
                <a:solidFill>
                  <a:schemeClr val="accent2"/>
                </a:solidFill>
              </a:rPr>
              <a:t>DATABASE</a:t>
            </a:r>
            <a:endParaRPr lang="en-US" sz="1000" dirty="0"/>
          </a:p>
        </p:txBody>
      </p:sp>
      <p:sp>
        <p:nvSpPr>
          <p:cNvPr id="13" name="Text 11"/>
          <p:cNvSpPr txBox="1"/>
          <p:nvPr/>
        </p:nvSpPr>
        <p:spPr>
          <a:xfrm>
            <a:off x="6217920" y="1527048"/>
            <a:ext cx="2286000" cy="320040"/>
          </a:xfrm>
          <a:prstGeom prst="rect">
            <a:avLst/>
          </a:prstGeom>
          <a:noFill/>
          <a:ln/>
        </p:spPr>
        <p:txBody>
          <a:bodyPr wrap="square" lIns="0" tIns="0" rIns="0" bIns="0" rtlCol="0" anchor="t"/>
          <a:lstStyle/>
          <a:p>
            <a:pPr algn="l" indent="0" marL="0">
              <a:buNone/>
            </a:pPr>
            <a:r>
              <a:rPr lang="en-US" sz="1600" b="1" dirty="0">
                <a:solidFill>
                  <a:schemeClr val="tx1"/>
                </a:solidFill>
              </a:rPr>
              <a:t>MySQL 8.0 / Clever Cloud</a:t>
            </a:r>
            <a:endParaRPr lang="en-US" sz="1600" dirty="0"/>
          </a:p>
        </p:txBody>
      </p:sp>
      <p:sp>
        <p:nvSpPr>
          <p:cNvPr id="14" name="Text 12"/>
          <p:cNvSpPr txBox="1"/>
          <p:nvPr/>
        </p:nvSpPr>
        <p:spPr>
          <a:xfrm>
            <a:off x="6217920" y="1892808"/>
            <a:ext cx="2286000" cy="411480"/>
          </a:xfrm>
          <a:prstGeom prst="rect">
            <a:avLst/>
          </a:prstGeom>
          <a:noFill/>
          <a:ln/>
        </p:spPr>
        <p:txBody>
          <a:bodyPr wrap="square" lIns="0" tIns="0" rIns="0" bIns="0" rtlCol="0" anchor="t"/>
          <a:lstStyle/>
          <a:p>
            <a:pPr algn="l" indent="0" marL="0">
              <a:buNone/>
            </a:pPr>
            <a:r>
              <a:rPr lang="en-US" sz="1200" dirty="0">
                <a:solidFill>
                  <a:schemeClr val="tx2"/>
                </a:solidFill>
              </a:rPr>
              <a:t>InnoDB engine, utf8mb4, ACID persistence</a:t>
            </a:r>
            <a:endParaRPr lang="en-US" sz="1200" dirty="0"/>
          </a:p>
        </p:txBody>
      </p:sp>
      <p:sp>
        <p:nvSpPr>
          <p:cNvPr id="15" name="Tech card 4"/>
          <p:cNvSpPr/>
          <p:nvPr/>
        </p:nvSpPr>
        <p:spPr>
          <a:xfrm>
            <a:off x="457200" y="2514600"/>
            <a:ext cx="265176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640080" y="2651760"/>
            <a:ext cx="2286000" cy="201168"/>
          </a:xfrm>
          <a:prstGeom prst="rect">
            <a:avLst/>
          </a:prstGeom>
          <a:noFill/>
          <a:ln/>
        </p:spPr>
        <p:txBody>
          <a:bodyPr wrap="square" lIns="0" tIns="0" rIns="0" bIns="0" rtlCol="0" anchor="t"/>
          <a:lstStyle/>
          <a:p>
            <a:pPr algn="l" indent="0" marL="0">
              <a:buNone/>
            </a:pPr>
            <a:r>
              <a:rPr lang="en-US" sz="1000" b="1" dirty="0">
                <a:solidFill>
                  <a:schemeClr val="accent2"/>
                </a:solidFill>
              </a:rPr>
              <a:t>CONNECTIVITY</a:t>
            </a:r>
            <a:endParaRPr lang="en-US" sz="1000" dirty="0"/>
          </a:p>
        </p:txBody>
      </p:sp>
      <p:sp>
        <p:nvSpPr>
          <p:cNvPr id="17" name="Text 15"/>
          <p:cNvSpPr txBox="1"/>
          <p:nvPr/>
        </p:nvSpPr>
        <p:spPr>
          <a:xfrm>
            <a:off x="640080" y="2898648"/>
            <a:ext cx="2286000" cy="320040"/>
          </a:xfrm>
          <a:prstGeom prst="rect">
            <a:avLst/>
          </a:prstGeom>
          <a:noFill/>
          <a:ln/>
        </p:spPr>
        <p:txBody>
          <a:bodyPr wrap="square" lIns="0" tIns="0" rIns="0" bIns="0" rtlCol="0" anchor="t"/>
          <a:lstStyle/>
          <a:p>
            <a:pPr algn="l" indent="0" marL="0">
              <a:buNone/>
            </a:pPr>
            <a:r>
              <a:rPr lang="en-US" sz="1600" b="1" dirty="0">
                <a:solidFill>
                  <a:schemeClr val="tx1"/>
                </a:solidFill>
              </a:rPr>
              <a:t>JDBC Type-4</a:t>
            </a:r>
            <a:endParaRPr lang="en-US" sz="1600" dirty="0"/>
          </a:p>
        </p:txBody>
      </p:sp>
      <p:sp>
        <p:nvSpPr>
          <p:cNvPr id="18" name="Text 16"/>
          <p:cNvSpPr txBox="1"/>
          <p:nvPr/>
        </p:nvSpPr>
        <p:spPr>
          <a:xfrm>
            <a:off x="640080" y="3264408"/>
            <a:ext cx="2286000" cy="411480"/>
          </a:xfrm>
          <a:prstGeom prst="rect">
            <a:avLst/>
          </a:prstGeom>
          <a:noFill/>
          <a:ln/>
        </p:spPr>
        <p:txBody>
          <a:bodyPr wrap="square" lIns="0" tIns="0" rIns="0" bIns="0" rtlCol="0" anchor="t"/>
          <a:lstStyle/>
          <a:p>
            <a:pPr algn="l" indent="0" marL="0">
              <a:buNone/>
            </a:pPr>
            <a:r>
              <a:rPr lang="en-US" sz="1200" dirty="0">
                <a:solidFill>
                  <a:schemeClr val="tx2"/>
                </a:solidFill>
              </a:rPr>
              <a:t>MySQL Connector/J 8.x driver</a:t>
            </a:r>
            <a:endParaRPr lang="en-US" sz="1200" dirty="0"/>
          </a:p>
        </p:txBody>
      </p:sp>
      <p:sp>
        <p:nvSpPr>
          <p:cNvPr id="19" name="Tech card 5"/>
          <p:cNvSpPr/>
          <p:nvPr/>
        </p:nvSpPr>
        <p:spPr>
          <a:xfrm>
            <a:off x="3246120" y="2514600"/>
            <a:ext cx="265176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3429000" y="2651760"/>
            <a:ext cx="2286000" cy="201168"/>
          </a:xfrm>
          <a:prstGeom prst="rect">
            <a:avLst/>
          </a:prstGeom>
          <a:noFill/>
          <a:ln/>
        </p:spPr>
        <p:txBody>
          <a:bodyPr wrap="square" lIns="0" tIns="0" rIns="0" bIns="0" rtlCol="0" anchor="t"/>
          <a:lstStyle/>
          <a:p>
            <a:pPr algn="l" indent="0" marL="0">
              <a:buNone/>
            </a:pPr>
            <a:r>
              <a:rPr lang="en-US" sz="1000" b="1" dirty="0">
                <a:solidFill>
                  <a:schemeClr val="accent2"/>
                </a:solidFill>
              </a:rPr>
              <a:t>ARCHITECTURE</a:t>
            </a:r>
            <a:endParaRPr lang="en-US" sz="1000" dirty="0"/>
          </a:p>
        </p:txBody>
      </p:sp>
      <p:sp>
        <p:nvSpPr>
          <p:cNvPr id="21" name="Text 19"/>
          <p:cNvSpPr txBox="1"/>
          <p:nvPr/>
        </p:nvSpPr>
        <p:spPr>
          <a:xfrm>
            <a:off x="3429000" y="2898648"/>
            <a:ext cx="2286000" cy="320040"/>
          </a:xfrm>
          <a:prstGeom prst="rect">
            <a:avLst/>
          </a:prstGeom>
          <a:noFill/>
          <a:ln/>
        </p:spPr>
        <p:txBody>
          <a:bodyPr wrap="square" lIns="0" tIns="0" rIns="0" bIns="0" rtlCol="0" anchor="t"/>
          <a:lstStyle/>
          <a:p>
            <a:pPr algn="l" indent="0" marL="0">
              <a:buNone/>
            </a:pPr>
            <a:r>
              <a:rPr lang="en-US" sz="1600" b="1" dirty="0">
                <a:solidFill>
                  <a:schemeClr val="tx1"/>
                </a:solidFill>
              </a:rPr>
              <a:t>Layered + DAO pattern</a:t>
            </a:r>
            <a:endParaRPr lang="en-US" sz="1600" dirty="0"/>
          </a:p>
        </p:txBody>
      </p:sp>
      <p:sp>
        <p:nvSpPr>
          <p:cNvPr id="22" name="Text 20"/>
          <p:cNvSpPr txBox="1"/>
          <p:nvPr/>
        </p:nvSpPr>
        <p:spPr>
          <a:xfrm>
            <a:off x="3429000" y="3264408"/>
            <a:ext cx="2286000" cy="411480"/>
          </a:xfrm>
          <a:prstGeom prst="rect">
            <a:avLst/>
          </a:prstGeom>
          <a:noFill/>
          <a:ln/>
        </p:spPr>
        <p:txBody>
          <a:bodyPr wrap="square" lIns="0" tIns="0" rIns="0" bIns="0" rtlCol="0" anchor="t"/>
          <a:lstStyle/>
          <a:p>
            <a:pPr algn="l" indent="0" marL="0">
              <a:buNone/>
            </a:pPr>
            <a:r>
              <a:rPr lang="en-US" sz="1200" dirty="0">
                <a:solidFill>
                  <a:schemeClr val="tx2"/>
                </a:solidFill>
              </a:rPr>
              <a:t>Presentation, model, service, persistence decoupled</a:t>
            </a:r>
            <a:endParaRPr lang="en-US" sz="1200" dirty="0"/>
          </a:p>
        </p:txBody>
      </p:sp>
      <p:sp>
        <p:nvSpPr>
          <p:cNvPr id="23" name="Tech card 6"/>
          <p:cNvSpPr/>
          <p:nvPr/>
        </p:nvSpPr>
        <p:spPr>
          <a:xfrm>
            <a:off x="6035040" y="2514600"/>
            <a:ext cx="265176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6217920" y="2651760"/>
            <a:ext cx="2286000" cy="201168"/>
          </a:xfrm>
          <a:prstGeom prst="rect">
            <a:avLst/>
          </a:prstGeom>
          <a:noFill/>
          <a:ln/>
        </p:spPr>
        <p:txBody>
          <a:bodyPr wrap="square" lIns="0" tIns="0" rIns="0" bIns="0" rtlCol="0" anchor="t"/>
          <a:lstStyle/>
          <a:p>
            <a:pPr algn="l" indent="0" marL="0">
              <a:buNone/>
            </a:pPr>
            <a:r>
              <a:rPr lang="en-US" sz="1000" b="1" dirty="0">
                <a:solidFill>
                  <a:schemeClr val="accent2"/>
                </a:solidFill>
              </a:rPr>
              <a:t>BUILD &amp; PACKAGING</a:t>
            </a:r>
            <a:endParaRPr lang="en-US" sz="1000" dirty="0"/>
          </a:p>
        </p:txBody>
      </p:sp>
      <p:sp>
        <p:nvSpPr>
          <p:cNvPr id="25" name="Text 23"/>
          <p:cNvSpPr txBox="1"/>
          <p:nvPr/>
        </p:nvSpPr>
        <p:spPr>
          <a:xfrm>
            <a:off x="6217920" y="2898648"/>
            <a:ext cx="2286000" cy="320040"/>
          </a:xfrm>
          <a:prstGeom prst="rect">
            <a:avLst/>
          </a:prstGeom>
          <a:noFill/>
          <a:ln/>
        </p:spPr>
        <p:txBody>
          <a:bodyPr wrap="square" lIns="0" tIns="0" rIns="0" bIns="0" rtlCol="0" anchor="t"/>
          <a:lstStyle/>
          <a:p>
            <a:pPr algn="l" indent="0" marL="0">
              <a:buNone/>
            </a:pPr>
            <a:r>
              <a:rPr lang="en-US" sz="1600" b="1" dirty="0">
                <a:solidFill>
                  <a:schemeClr val="tx1"/>
                </a:solidFill>
              </a:rPr>
              <a:t>build.bat + jpackage</a:t>
            </a:r>
            <a:endParaRPr lang="en-US" sz="1600" dirty="0"/>
          </a:p>
        </p:txBody>
      </p:sp>
      <p:sp>
        <p:nvSpPr>
          <p:cNvPr id="26" name="Text 24"/>
          <p:cNvSpPr txBox="1"/>
          <p:nvPr/>
        </p:nvSpPr>
        <p:spPr>
          <a:xfrm>
            <a:off x="6217920" y="3264408"/>
            <a:ext cx="2286000" cy="411480"/>
          </a:xfrm>
          <a:prstGeom prst="rect">
            <a:avLst/>
          </a:prstGeom>
          <a:noFill/>
          <a:ln/>
        </p:spPr>
        <p:txBody>
          <a:bodyPr wrap="square" lIns="0" tIns="0" rIns="0" bIns="0" rtlCol="0" anchor="t"/>
          <a:lstStyle/>
          <a:p>
            <a:pPr algn="l" indent="0" marL="0">
              <a:buNone/>
            </a:pPr>
            <a:r>
              <a:rPr lang="en-US" sz="1200" dirty="0">
                <a:solidFill>
                  <a:schemeClr val="tx2"/>
                </a:solidFill>
              </a:rPr>
              <a:t>Portable .exe with embedded Java runtime</a:t>
            </a:r>
            <a:endParaRPr lang="en-US" sz="1200" dirty="0"/>
          </a:p>
        </p:txBody>
      </p:sp>
      <p:sp>
        <p:nvSpPr>
          <p:cNvPr id="27" name="Stats band"/>
          <p:cNvSpPr/>
          <p:nvPr/>
        </p:nvSpPr>
        <p:spPr>
          <a:xfrm>
            <a:off x="457200" y="3977640"/>
            <a:ext cx="8229600" cy="731520"/>
          </a:xfrm>
          <a:prstGeom prst="roundRect">
            <a:avLst>
              <a:gd name="adj" fmla="val 10000"/>
            </a:avLst>
          </a:prstGeom>
          <a:solidFill>
            <a:schemeClr val="tx1"/>
          </a:solidFill>
          <a:ln w="12700">
            <a:solidFill>
              <a:schemeClr val="tx1"/>
            </a:solidFill>
            <a:prstDash val="solid"/>
          </a:ln>
        </p:spPr>
      </p:sp>
      <p:sp>
        <p:nvSpPr>
          <p:cNvPr id="28" name="Text 26"/>
          <p:cNvSpPr txBox="1"/>
          <p:nvPr/>
        </p:nvSpPr>
        <p:spPr>
          <a:xfrm>
            <a:off x="731520" y="3977640"/>
            <a:ext cx="2651760" cy="731520"/>
          </a:xfrm>
          <a:prstGeom prst="rect">
            <a:avLst/>
          </a:prstGeom>
          <a:noFill/>
          <a:ln/>
        </p:spPr>
        <p:txBody>
          <a:bodyPr wrap="square" lIns="0" tIns="0" rIns="0" bIns="0" rtlCol="0" anchor="ctr"/>
          <a:lstStyle/>
          <a:p>
            <a:pPr algn="l" indent="0" marL="0">
              <a:buNone/>
            </a:pPr>
            <a:r>
              <a:rPr lang="en-US" sz="2600" b="1" dirty="0">
                <a:solidFill>
                  <a:schemeClr val="accent1"/>
                </a:solidFill>
              </a:rPr>
              <a:t>15</a:t>
            </a:r>
            <a:pPr algn="l" indent="0" marL="0">
              <a:buNone/>
            </a:pPr>
            <a:r>
              <a:rPr lang="en-US" sz="1300" dirty="0">
                <a:solidFill>
                  <a:schemeClr val="bg1"/>
                </a:solidFill>
              </a:rPr>
              <a:t>  Java source files</a:t>
            </a:r>
            <a:endParaRPr lang="en-US" sz="2600" dirty="0"/>
          </a:p>
        </p:txBody>
      </p:sp>
      <p:sp>
        <p:nvSpPr>
          <p:cNvPr id="29" name="Text 27"/>
          <p:cNvSpPr txBox="1"/>
          <p:nvPr/>
        </p:nvSpPr>
        <p:spPr>
          <a:xfrm>
            <a:off x="3474720" y="3977640"/>
            <a:ext cx="2651760" cy="731520"/>
          </a:xfrm>
          <a:prstGeom prst="rect">
            <a:avLst/>
          </a:prstGeom>
          <a:noFill/>
          <a:ln/>
        </p:spPr>
        <p:txBody>
          <a:bodyPr wrap="square" lIns="0" tIns="0" rIns="0" bIns="0" rtlCol="0" anchor="ctr"/>
          <a:lstStyle/>
          <a:p>
            <a:pPr algn="l" indent="0" marL="0">
              <a:buNone/>
            </a:pPr>
            <a:r>
              <a:rPr lang="en-US" sz="2600" b="1" dirty="0">
                <a:solidFill>
                  <a:schemeClr val="accent1"/>
                </a:solidFill>
              </a:rPr>
              <a:t>4,500+</a:t>
            </a:r>
            <a:pPr algn="l" indent="0" marL="0">
              <a:buNone/>
            </a:pPr>
            <a:r>
              <a:rPr lang="en-US" sz="1300" dirty="0">
                <a:solidFill>
                  <a:schemeClr val="bg1"/>
                </a:solidFill>
              </a:rPr>
              <a:t>  lines of Java code</a:t>
            </a:r>
            <a:endParaRPr lang="en-US" sz="2600" dirty="0"/>
          </a:p>
        </p:txBody>
      </p:sp>
      <p:sp>
        <p:nvSpPr>
          <p:cNvPr id="30" name="Text 28"/>
          <p:cNvSpPr txBox="1"/>
          <p:nvPr/>
        </p:nvSpPr>
        <p:spPr>
          <a:xfrm>
            <a:off x="6217920" y="3977640"/>
            <a:ext cx="2651760" cy="731520"/>
          </a:xfrm>
          <a:prstGeom prst="rect">
            <a:avLst/>
          </a:prstGeom>
          <a:noFill/>
          <a:ln/>
        </p:spPr>
        <p:txBody>
          <a:bodyPr wrap="square" lIns="0" tIns="0" rIns="0" bIns="0" rtlCol="0" anchor="ctr"/>
          <a:lstStyle/>
          <a:p>
            <a:pPr algn="l" indent="0" marL="0">
              <a:buNone/>
            </a:pPr>
            <a:r>
              <a:rPr lang="en-US" sz="2600" b="1" dirty="0">
                <a:solidFill>
                  <a:schemeClr val="accent1"/>
                </a:solidFill>
              </a:rPr>
              <a:t>5</a:t>
            </a:r>
            <a:pPr algn="l" indent="0" marL="0">
              <a:buNone/>
            </a:pPr>
            <a:r>
              <a:rPr lang="en-US" sz="1300" dirty="0">
                <a:solidFill>
                  <a:schemeClr val="bg1"/>
                </a:solidFill>
              </a:rPr>
              <a:t>  architecture layers</a:t>
            </a:r>
            <a:endParaRPr lang="en-US" sz="2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Five-Layer System Architecture</a:t>
            </a:r>
            <a:endParaRPr lang="en-US" sz="3000" dirty="0"/>
          </a:p>
        </p:txBody>
      </p:sp>
      <p:sp>
        <p:nvSpPr>
          <p:cNvPr id="3" name="Layer bar 1"/>
          <p:cNvSpPr/>
          <p:nvPr/>
        </p:nvSpPr>
        <p:spPr>
          <a:xfrm>
            <a:off x="457200" y="1143000"/>
            <a:ext cx="8229600" cy="530352"/>
          </a:xfrm>
          <a:prstGeom prst="roundRect">
            <a:avLst>
              <a:gd name="adj" fmla="val 13793"/>
            </a:avLst>
          </a:prstGeom>
          <a:solidFill>
            <a:schemeClr val="tx1"/>
          </a:solidFill>
          <a:ln w="12700">
            <a:solidFill>
              <a:schemeClr val="tx1"/>
            </a:solidFill>
            <a:prstDash val="solid"/>
          </a:ln>
        </p:spPr>
      </p:sp>
      <p:sp>
        <p:nvSpPr>
          <p:cNvPr id="4" name="Layer number 1"/>
          <p:cNvSpPr/>
          <p:nvPr/>
        </p:nvSpPr>
        <p:spPr>
          <a:xfrm>
            <a:off x="594360" y="1225296"/>
            <a:ext cx="365760" cy="365760"/>
          </a:xfrm>
          <a:prstGeom prst="ellipse">
            <a:avLst/>
          </a:prstGeom>
          <a:solidFill>
            <a:schemeClr val="accent1"/>
          </a:solidFill>
          <a:ln w="12700">
            <a:solidFill>
              <a:schemeClr val="accent1"/>
            </a:solidFill>
            <a:prstDash val="solid"/>
          </a:ln>
        </p:spPr>
      </p:sp>
      <p:sp>
        <p:nvSpPr>
          <p:cNvPr id="5" name="Text 3"/>
          <p:cNvSpPr txBox="1"/>
          <p:nvPr/>
        </p:nvSpPr>
        <p:spPr>
          <a:xfrm>
            <a:off x="594360" y="1225296"/>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 4"/>
          <p:cNvSpPr txBox="1"/>
          <p:nvPr/>
        </p:nvSpPr>
        <p:spPr>
          <a:xfrm>
            <a:off x="1143000" y="1143000"/>
            <a:ext cx="3017520" cy="530352"/>
          </a:xfrm>
          <a:prstGeom prst="rect">
            <a:avLst/>
          </a:prstGeom>
          <a:noFill/>
          <a:ln/>
        </p:spPr>
        <p:txBody>
          <a:bodyPr wrap="square" lIns="0" tIns="0" rIns="0" bIns="0" rtlCol="0" anchor="ctr"/>
          <a:lstStyle/>
          <a:p>
            <a:pPr algn="l" indent="0" marL="0">
              <a:buNone/>
            </a:pPr>
            <a:r>
              <a:rPr lang="en-US" sz="1400" b="1" dirty="0">
                <a:solidFill>
                  <a:schemeClr val="bg1"/>
                </a:solidFill>
              </a:rPr>
              <a:t>Presentation Layer (Swing GUI)</a:t>
            </a:r>
            <a:endParaRPr lang="en-US" sz="1400" dirty="0"/>
          </a:p>
        </p:txBody>
      </p:sp>
      <p:sp>
        <p:nvSpPr>
          <p:cNvPr id="7" name="Text 5"/>
          <p:cNvSpPr txBox="1"/>
          <p:nvPr/>
        </p:nvSpPr>
        <p:spPr>
          <a:xfrm>
            <a:off x="4206240" y="1143000"/>
            <a:ext cx="4343400" cy="530352"/>
          </a:xfrm>
          <a:prstGeom prst="rect">
            <a:avLst/>
          </a:prstGeom>
          <a:noFill/>
          <a:ln/>
        </p:spPr>
        <p:txBody>
          <a:bodyPr wrap="square" lIns="0" tIns="0" rIns="0" bIns="0" rtlCol="0" anchor="ctr"/>
          <a:lstStyle/>
          <a:p>
            <a:pPr algn="l" indent="0" marL="0">
              <a:buNone/>
            </a:pPr>
            <a:r>
              <a:rPr lang="en-US" sz="1200" dirty="0">
                <a:solidFill>
                  <a:schemeClr val="bg2"/>
                </a:solidFill>
              </a:rPr>
              <a:t>LoginFrame  |  RegisterDialog  |  DashboardFrame  |  UITheme</a:t>
            </a:r>
            <a:endParaRPr lang="en-US" sz="1200" dirty="0"/>
          </a:p>
        </p:txBody>
      </p:sp>
      <p:sp>
        <p:nvSpPr>
          <p:cNvPr id="8" name="Layer bar 2"/>
          <p:cNvSpPr/>
          <p:nvPr/>
        </p:nvSpPr>
        <p:spPr>
          <a:xfrm>
            <a:off x="457200" y="1764792"/>
            <a:ext cx="8229600" cy="530352"/>
          </a:xfrm>
          <a:prstGeom prst="roundRect">
            <a:avLst>
              <a:gd name="adj" fmla="val 13793"/>
            </a:avLst>
          </a:prstGeom>
          <a:solidFill>
            <a:schemeClr val="tx1"/>
          </a:solidFill>
          <a:ln w="12700">
            <a:solidFill>
              <a:schemeClr val="tx1"/>
            </a:solidFill>
            <a:prstDash val="solid"/>
          </a:ln>
        </p:spPr>
      </p:sp>
      <p:sp>
        <p:nvSpPr>
          <p:cNvPr id="9" name="Layer number 2"/>
          <p:cNvSpPr/>
          <p:nvPr/>
        </p:nvSpPr>
        <p:spPr>
          <a:xfrm>
            <a:off x="594360" y="1847088"/>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594360" y="184708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 9"/>
          <p:cNvSpPr txBox="1"/>
          <p:nvPr/>
        </p:nvSpPr>
        <p:spPr>
          <a:xfrm>
            <a:off x="1143000" y="1764792"/>
            <a:ext cx="3017520" cy="530352"/>
          </a:xfrm>
          <a:prstGeom prst="rect">
            <a:avLst/>
          </a:prstGeom>
          <a:noFill/>
          <a:ln/>
        </p:spPr>
        <p:txBody>
          <a:bodyPr wrap="square" lIns="0" tIns="0" rIns="0" bIns="0" rtlCol="0" anchor="ctr"/>
          <a:lstStyle/>
          <a:p>
            <a:pPr algn="l" indent="0" marL="0">
              <a:buNone/>
            </a:pPr>
            <a:r>
              <a:rPr lang="en-US" sz="1400" b="1" dirty="0">
                <a:solidFill>
                  <a:schemeClr val="bg1"/>
                </a:solidFill>
              </a:rPr>
              <a:t>Domain Model Layer</a:t>
            </a:r>
            <a:endParaRPr lang="en-US" sz="1400" dirty="0"/>
          </a:p>
        </p:txBody>
      </p:sp>
      <p:sp>
        <p:nvSpPr>
          <p:cNvPr id="12" name="Text 10"/>
          <p:cNvSpPr txBox="1"/>
          <p:nvPr/>
        </p:nvSpPr>
        <p:spPr>
          <a:xfrm>
            <a:off x="4206240" y="1764792"/>
            <a:ext cx="4343400" cy="530352"/>
          </a:xfrm>
          <a:prstGeom prst="rect">
            <a:avLst/>
          </a:prstGeom>
          <a:noFill/>
          <a:ln/>
        </p:spPr>
        <p:txBody>
          <a:bodyPr wrap="square" lIns="0" tIns="0" rIns="0" bIns="0" rtlCol="0" anchor="ctr"/>
          <a:lstStyle/>
          <a:p>
            <a:pPr algn="l" indent="0" marL="0">
              <a:buNone/>
            </a:pPr>
            <a:r>
              <a:rPr lang="en-US" sz="1200" dirty="0">
                <a:solidFill>
                  <a:schemeClr val="bg2"/>
                </a:solidFill>
              </a:rPr>
              <a:t>User  |  LostItem  |  FoundItem  |  Claim</a:t>
            </a:r>
            <a:endParaRPr lang="en-US" sz="1200" dirty="0"/>
          </a:p>
        </p:txBody>
      </p:sp>
      <p:sp>
        <p:nvSpPr>
          <p:cNvPr id="13" name="Layer bar 3"/>
          <p:cNvSpPr/>
          <p:nvPr/>
        </p:nvSpPr>
        <p:spPr>
          <a:xfrm>
            <a:off x="457200" y="2386584"/>
            <a:ext cx="8229600" cy="530352"/>
          </a:xfrm>
          <a:prstGeom prst="roundRect">
            <a:avLst>
              <a:gd name="adj" fmla="val 13793"/>
            </a:avLst>
          </a:prstGeom>
          <a:solidFill>
            <a:schemeClr val="accent2"/>
          </a:solidFill>
          <a:ln w="12700">
            <a:solidFill>
              <a:schemeClr val="accent2"/>
            </a:solidFill>
            <a:prstDash val="solid"/>
          </a:ln>
        </p:spPr>
      </p:sp>
      <p:sp>
        <p:nvSpPr>
          <p:cNvPr id="14" name="Layer number 3"/>
          <p:cNvSpPr/>
          <p:nvPr/>
        </p:nvSpPr>
        <p:spPr>
          <a:xfrm>
            <a:off x="594360" y="2468880"/>
            <a:ext cx="365760" cy="365760"/>
          </a:xfrm>
          <a:prstGeom prst="ellipse">
            <a:avLst/>
          </a:prstGeom>
          <a:solidFill>
            <a:schemeClr val="accent1"/>
          </a:solidFill>
          <a:ln w="12700">
            <a:solidFill>
              <a:schemeClr val="accent1"/>
            </a:solidFill>
            <a:prstDash val="solid"/>
          </a:ln>
        </p:spPr>
      </p:sp>
      <p:sp>
        <p:nvSpPr>
          <p:cNvPr id="15" name="Text 13"/>
          <p:cNvSpPr txBox="1"/>
          <p:nvPr/>
        </p:nvSpPr>
        <p:spPr>
          <a:xfrm>
            <a:off x="594360" y="246888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Text 14"/>
          <p:cNvSpPr txBox="1"/>
          <p:nvPr/>
        </p:nvSpPr>
        <p:spPr>
          <a:xfrm>
            <a:off x="1143000" y="2386584"/>
            <a:ext cx="3017520" cy="530352"/>
          </a:xfrm>
          <a:prstGeom prst="rect">
            <a:avLst/>
          </a:prstGeom>
          <a:noFill/>
          <a:ln/>
        </p:spPr>
        <p:txBody>
          <a:bodyPr wrap="square" lIns="0" tIns="0" rIns="0" bIns="0" rtlCol="0" anchor="ctr"/>
          <a:lstStyle/>
          <a:p>
            <a:pPr algn="l" indent="0" marL="0">
              <a:buNone/>
            </a:pPr>
            <a:r>
              <a:rPr lang="en-US" sz="1400" b="1" dirty="0">
                <a:solidFill>
                  <a:schemeClr val="bg1"/>
                </a:solidFill>
              </a:rPr>
              <a:t>Algorithmic Service Layer</a:t>
            </a:r>
            <a:endParaRPr lang="en-US" sz="1400" dirty="0"/>
          </a:p>
        </p:txBody>
      </p:sp>
      <p:sp>
        <p:nvSpPr>
          <p:cNvPr id="17" name="Text 15"/>
          <p:cNvSpPr txBox="1"/>
          <p:nvPr/>
        </p:nvSpPr>
        <p:spPr>
          <a:xfrm>
            <a:off x="4206240" y="2386584"/>
            <a:ext cx="4343400" cy="530352"/>
          </a:xfrm>
          <a:prstGeom prst="rect">
            <a:avLst/>
          </a:prstGeom>
          <a:noFill/>
          <a:ln/>
        </p:spPr>
        <p:txBody>
          <a:bodyPr wrap="square" lIns="0" tIns="0" rIns="0" bIns="0" rtlCol="0" anchor="ctr"/>
          <a:lstStyle/>
          <a:p>
            <a:pPr algn="l" indent="0" marL="0">
              <a:buNone/>
            </a:pPr>
            <a:r>
              <a:rPr lang="en-US" sz="1200" dirty="0">
                <a:solidFill>
                  <a:schemeClr val="bg2"/>
                </a:solidFill>
              </a:rPr>
              <a:t>MatchingService (rule-based lexical matching)</a:t>
            </a:r>
            <a:endParaRPr lang="en-US" sz="1200" dirty="0"/>
          </a:p>
        </p:txBody>
      </p:sp>
      <p:sp>
        <p:nvSpPr>
          <p:cNvPr id="18" name="Layer bar 4"/>
          <p:cNvSpPr/>
          <p:nvPr/>
        </p:nvSpPr>
        <p:spPr>
          <a:xfrm>
            <a:off x="457200" y="3008376"/>
            <a:ext cx="8229600" cy="530352"/>
          </a:xfrm>
          <a:prstGeom prst="roundRect">
            <a:avLst>
              <a:gd name="adj" fmla="val 13793"/>
            </a:avLst>
          </a:prstGeom>
          <a:solidFill>
            <a:schemeClr val="tx1"/>
          </a:solidFill>
          <a:ln w="12700">
            <a:solidFill>
              <a:schemeClr val="tx1"/>
            </a:solidFill>
            <a:prstDash val="solid"/>
          </a:ln>
        </p:spPr>
      </p:sp>
      <p:sp>
        <p:nvSpPr>
          <p:cNvPr id="19" name="Layer number 4"/>
          <p:cNvSpPr/>
          <p:nvPr/>
        </p:nvSpPr>
        <p:spPr>
          <a:xfrm>
            <a:off x="594360" y="3090672"/>
            <a:ext cx="365760" cy="365760"/>
          </a:xfrm>
          <a:prstGeom prst="ellipse">
            <a:avLst/>
          </a:prstGeom>
          <a:solidFill>
            <a:schemeClr val="accent1"/>
          </a:solidFill>
          <a:ln w="12700">
            <a:solidFill>
              <a:schemeClr val="accent1"/>
            </a:solidFill>
            <a:prstDash val="solid"/>
          </a:ln>
        </p:spPr>
      </p:sp>
      <p:sp>
        <p:nvSpPr>
          <p:cNvPr id="20" name="Text 18"/>
          <p:cNvSpPr txBox="1"/>
          <p:nvPr/>
        </p:nvSpPr>
        <p:spPr>
          <a:xfrm>
            <a:off x="594360" y="3090672"/>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1" name="Text 19"/>
          <p:cNvSpPr txBox="1"/>
          <p:nvPr/>
        </p:nvSpPr>
        <p:spPr>
          <a:xfrm>
            <a:off x="1143000" y="3008376"/>
            <a:ext cx="3017520" cy="530352"/>
          </a:xfrm>
          <a:prstGeom prst="rect">
            <a:avLst/>
          </a:prstGeom>
          <a:noFill/>
          <a:ln/>
        </p:spPr>
        <p:txBody>
          <a:bodyPr wrap="square" lIns="0" tIns="0" rIns="0" bIns="0" rtlCol="0" anchor="ctr"/>
          <a:lstStyle/>
          <a:p>
            <a:pPr algn="l" indent="0" marL="0">
              <a:buNone/>
            </a:pPr>
            <a:r>
              <a:rPr lang="en-US" sz="1400" b="1" dirty="0">
                <a:solidFill>
                  <a:schemeClr val="bg1"/>
                </a:solidFill>
              </a:rPr>
              <a:t>Data Access Object (DAO) Layer</a:t>
            </a:r>
            <a:endParaRPr lang="en-US" sz="1400" dirty="0"/>
          </a:p>
        </p:txBody>
      </p:sp>
      <p:sp>
        <p:nvSpPr>
          <p:cNvPr id="22" name="Text 20"/>
          <p:cNvSpPr txBox="1"/>
          <p:nvPr/>
        </p:nvSpPr>
        <p:spPr>
          <a:xfrm>
            <a:off x="4206240" y="3008376"/>
            <a:ext cx="4343400" cy="530352"/>
          </a:xfrm>
          <a:prstGeom prst="rect">
            <a:avLst/>
          </a:prstGeom>
          <a:noFill/>
          <a:ln/>
        </p:spPr>
        <p:txBody>
          <a:bodyPr wrap="square" lIns="0" tIns="0" rIns="0" bIns="0" rtlCol="0" anchor="ctr"/>
          <a:lstStyle/>
          <a:p>
            <a:pPr algn="l" indent="0" marL="0">
              <a:buNone/>
            </a:pPr>
            <a:r>
              <a:rPr lang="en-US" sz="1200" dirty="0">
                <a:solidFill>
                  <a:schemeClr val="bg2"/>
                </a:solidFill>
              </a:rPr>
              <a:t>UserDAO  |  LostItemDAO  |  FoundItemDAO  |  ClaimDAO</a:t>
            </a:r>
            <a:endParaRPr lang="en-US" sz="1200" dirty="0"/>
          </a:p>
        </p:txBody>
      </p:sp>
      <p:sp>
        <p:nvSpPr>
          <p:cNvPr id="23" name="Layer bar 5"/>
          <p:cNvSpPr/>
          <p:nvPr/>
        </p:nvSpPr>
        <p:spPr>
          <a:xfrm>
            <a:off x="457200" y="3630168"/>
            <a:ext cx="8229600" cy="530352"/>
          </a:xfrm>
          <a:prstGeom prst="roundRect">
            <a:avLst>
              <a:gd name="adj" fmla="val 13793"/>
            </a:avLst>
          </a:prstGeom>
          <a:solidFill>
            <a:schemeClr val="tx1"/>
          </a:solidFill>
          <a:ln w="12700">
            <a:solidFill>
              <a:schemeClr val="tx1"/>
            </a:solidFill>
            <a:prstDash val="solid"/>
          </a:ln>
        </p:spPr>
      </p:sp>
      <p:sp>
        <p:nvSpPr>
          <p:cNvPr id="24" name="Layer number 5"/>
          <p:cNvSpPr/>
          <p:nvPr/>
        </p:nvSpPr>
        <p:spPr>
          <a:xfrm>
            <a:off x="594360" y="3712464"/>
            <a:ext cx="365760" cy="365760"/>
          </a:xfrm>
          <a:prstGeom prst="ellipse">
            <a:avLst/>
          </a:prstGeom>
          <a:solidFill>
            <a:schemeClr val="accent1"/>
          </a:solidFill>
          <a:ln w="12700">
            <a:solidFill>
              <a:schemeClr val="accent1"/>
            </a:solidFill>
            <a:prstDash val="solid"/>
          </a:ln>
        </p:spPr>
      </p:sp>
      <p:sp>
        <p:nvSpPr>
          <p:cNvPr id="25" name="Text 23"/>
          <p:cNvSpPr txBox="1"/>
          <p:nvPr/>
        </p:nvSpPr>
        <p:spPr>
          <a:xfrm>
            <a:off x="594360" y="3712464"/>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Text 24"/>
          <p:cNvSpPr txBox="1"/>
          <p:nvPr/>
        </p:nvSpPr>
        <p:spPr>
          <a:xfrm>
            <a:off x="1143000" y="3630168"/>
            <a:ext cx="3017520" cy="530352"/>
          </a:xfrm>
          <a:prstGeom prst="rect">
            <a:avLst/>
          </a:prstGeom>
          <a:noFill/>
          <a:ln/>
        </p:spPr>
        <p:txBody>
          <a:bodyPr wrap="square" lIns="0" tIns="0" rIns="0" bIns="0" rtlCol="0" anchor="ctr"/>
          <a:lstStyle/>
          <a:p>
            <a:pPr algn="l" indent="0" marL="0">
              <a:buNone/>
            </a:pPr>
            <a:r>
              <a:rPr lang="en-US" sz="1400" b="1" dirty="0">
                <a:solidFill>
                  <a:schemeClr val="bg1"/>
                </a:solidFill>
              </a:rPr>
              <a:t>Persistence &amp; Database Layer</a:t>
            </a:r>
            <a:endParaRPr lang="en-US" sz="1400" dirty="0"/>
          </a:p>
        </p:txBody>
      </p:sp>
      <p:sp>
        <p:nvSpPr>
          <p:cNvPr id="27" name="Text 25"/>
          <p:cNvSpPr txBox="1"/>
          <p:nvPr/>
        </p:nvSpPr>
        <p:spPr>
          <a:xfrm>
            <a:off x="4206240" y="3630168"/>
            <a:ext cx="4343400" cy="530352"/>
          </a:xfrm>
          <a:prstGeom prst="rect">
            <a:avLst/>
          </a:prstGeom>
          <a:noFill/>
          <a:ln/>
        </p:spPr>
        <p:txBody>
          <a:bodyPr wrap="square" lIns="0" tIns="0" rIns="0" bIns="0" rtlCol="0" anchor="ctr"/>
          <a:lstStyle/>
          <a:p>
            <a:pPr algn="l" indent="0" marL="0">
              <a:buNone/>
            </a:pPr>
            <a:r>
              <a:rPr lang="en-US" sz="1200" dirty="0">
                <a:solidFill>
                  <a:schemeClr val="bg2"/>
                </a:solidFill>
              </a:rPr>
              <a:t>DatabaseConnection (singleton)  &gt;  MySQL 8.0 / Cloud DB</a:t>
            </a:r>
            <a:endParaRPr lang="en-US" sz="1200" dirty="0"/>
          </a:p>
        </p:txBody>
      </p:sp>
      <p:sp>
        <p:nvSpPr>
          <p:cNvPr id="28" name="Text 26"/>
          <p:cNvSpPr txBox="1"/>
          <p:nvPr/>
        </p:nvSpPr>
        <p:spPr>
          <a:xfrm>
            <a:off x="457200" y="4343400"/>
            <a:ext cx="8229600" cy="274320"/>
          </a:xfrm>
          <a:prstGeom prst="rect">
            <a:avLst/>
          </a:prstGeom>
          <a:noFill/>
          <a:ln/>
        </p:spPr>
        <p:txBody>
          <a:bodyPr wrap="square" lIns="0" tIns="0" rIns="0" bIns="0" rtlCol="0" anchor="t"/>
          <a:lstStyle/>
          <a:p>
            <a:pPr algn="l" indent="0" marL="0">
              <a:buNone/>
            </a:pPr>
            <a:r>
              <a:rPr lang="en-US" sz="1200" i="1" dirty="0">
                <a:solidFill>
                  <a:schemeClr val="tx2"/>
                </a:solidFill>
              </a:rPr>
              <a:t>Each layer talks only to the layer below it; every SQL call goes through a DAO class.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Item Lifecycle &amp; Role-Based Workflow</a:t>
            </a:r>
            <a:endParaRPr lang="en-US" sz="3000" dirty="0"/>
          </a:p>
        </p:txBody>
      </p:sp>
      <p:sp>
        <p:nvSpPr>
          <p:cNvPr id="3" name="Status PENDING"/>
          <p:cNvSpPr/>
          <p:nvPr/>
        </p:nvSpPr>
        <p:spPr>
          <a:xfrm>
            <a:off x="777240" y="1143000"/>
            <a:ext cx="2103120" cy="1097280"/>
          </a:xfrm>
          <a:prstGeom prst="roundRect">
            <a:avLst>
              <a:gd name="adj" fmla="val 6667"/>
            </a:avLst>
          </a:prstGeom>
          <a:solidFill>
            <a:schemeClr val="accent4"/>
          </a:solidFill>
          <a:ln w="12700">
            <a:solidFill>
              <a:schemeClr val="accent4"/>
            </a:solidFill>
            <a:prstDash val="solid"/>
          </a:ln>
        </p:spPr>
      </p:sp>
      <p:sp>
        <p:nvSpPr>
          <p:cNvPr id="4" name="Text 2"/>
          <p:cNvSpPr txBox="1"/>
          <p:nvPr/>
        </p:nvSpPr>
        <p:spPr>
          <a:xfrm>
            <a:off x="914400" y="1252728"/>
            <a:ext cx="1828800" cy="914400"/>
          </a:xfrm>
          <a:prstGeom prst="rect">
            <a:avLst/>
          </a:prstGeom>
          <a:noFill/>
          <a:ln/>
        </p:spPr>
        <p:txBody>
          <a:bodyPr wrap="square" lIns="0" tIns="0" rIns="0" bIns="0" rtlCol="0" anchor="ctr"/>
          <a:lstStyle/>
          <a:p>
            <a:pPr algn="l" indent="0" marL="0">
              <a:buNone/>
            </a:pPr>
            <a:r>
              <a:rPr lang="en-US" sz="1800" b="1" dirty="0">
                <a:solidFill>
                  <a:schemeClr val="tx1"/>
                </a:solidFill>
              </a:rPr>
              <a:t>PENDING</a:t>
            </a:r>
            <a:endParaRPr lang="en-US" sz="1800" dirty="0"/>
          </a:p>
          <a:p>
            <a:pPr algn="l" indent="0" marL="0">
              <a:buNone/>
            </a:pPr>
            <a:r>
              <a:rPr lang="en-US" sz="1200" dirty="0">
                <a:solidFill>
                  <a:schemeClr val="tx1"/>
                </a:solidFill>
              </a:rPr>
              <a:t>Student submits a lost or found report</a:t>
            </a:r>
            <a:endParaRPr lang="en-US" sz="1800" dirty="0"/>
          </a:p>
        </p:txBody>
      </p:sp>
      <p:sp>
        <p:nvSpPr>
          <p:cNvPr id="5" name="Arrow 1"/>
          <p:cNvSpPr/>
          <p:nvPr/>
        </p:nvSpPr>
        <p:spPr>
          <a:xfrm>
            <a:off x="2944368" y="1508760"/>
            <a:ext cx="411480" cy="365760"/>
          </a:xfrm>
          <a:prstGeom prst="rightArrow">
            <a:avLst/>
          </a:prstGeom>
          <a:solidFill>
            <a:schemeClr val="accent6"/>
          </a:solidFill>
          <a:ln w="12700">
            <a:solidFill>
              <a:schemeClr val="accent6"/>
            </a:solidFill>
            <a:prstDash val="solid"/>
          </a:ln>
        </p:spPr>
      </p:sp>
      <p:sp>
        <p:nvSpPr>
          <p:cNvPr id="6" name="Status APPROVED"/>
          <p:cNvSpPr/>
          <p:nvPr/>
        </p:nvSpPr>
        <p:spPr>
          <a:xfrm>
            <a:off x="3429000" y="1143000"/>
            <a:ext cx="2377440" cy="502920"/>
          </a:xfrm>
          <a:prstGeom prst="roundRect">
            <a:avLst>
              <a:gd name="adj" fmla="val 14545"/>
            </a:avLst>
          </a:prstGeom>
          <a:solidFill>
            <a:schemeClr val="accent3"/>
          </a:solidFill>
          <a:ln w="12700">
            <a:solidFill>
              <a:schemeClr val="accent3"/>
            </a:solidFill>
            <a:prstDash val="solid"/>
          </a:ln>
        </p:spPr>
      </p:sp>
      <p:sp>
        <p:nvSpPr>
          <p:cNvPr id="7" name="Text 5"/>
          <p:cNvSpPr txBox="1"/>
          <p:nvPr/>
        </p:nvSpPr>
        <p:spPr>
          <a:xfrm>
            <a:off x="3566160" y="1143000"/>
            <a:ext cx="2148840" cy="502920"/>
          </a:xfrm>
          <a:prstGeom prst="rect">
            <a:avLst/>
          </a:prstGeom>
          <a:noFill/>
          <a:ln/>
        </p:spPr>
        <p:txBody>
          <a:bodyPr wrap="square" lIns="0" tIns="0" rIns="0" bIns="0" rtlCol="0" anchor="ctr"/>
          <a:lstStyle/>
          <a:p>
            <a:pPr algn="l" indent="0" marL="0">
              <a:buNone/>
            </a:pPr>
            <a:r>
              <a:rPr lang="en-US" sz="1400" b="1" dirty="0">
                <a:solidFill>
                  <a:schemeClr val="tx1"/>
                </a:solidFill>
              </a:rPr>
              <a:t>APPROVED</a:t>
            </a:r>
            <a:pPr algn="l" indent="0" marL="0">
              <a:buNone/>
            </a:pPr>
            <a:r>
              <a:rPr lang="en-US" sz="1200" dirty="0">
                <a:solidFill>
                  <a:schemeClr val="tx1"/>
                </a:solidFill>
              </a:rPr>
              <a:t>   student notified</a:t>
            </a:r>
            <a:endParaRPr lang="en-US" sz="1400" dirty="0"/>
          </a:p>
        </p:txBody>
      </p:sp>
      <p:sp>
        <p:nvSpPr>
          <p:cNvPr id="8" name="Status REJECTED"/>
          <p:cNvSpPr/>
          <p:nvPr/>
        </p:nvSpPr>
        <p:spPr>
          <a:xfrm>
            <a:off x="3429000" y="1737360"/>
            <a:ext cx="2377440" cy="502920"/>
          </a:xfrm>
          <a:prstGeom prst="roundRect">
            <a:avLst>
              <a:gd name="adj" fmla="val 14545"/>
            </a:avLst>
          </a:prstGeom>
          <a:solidFill>
            <a:schemeClr val="accent5"/>
          </a:solidFill>
          <a:ln w="12700">
            <a:solidFill>
              <a:schemeClr val="accent5"/>
            </a:solidFill>
            <a:prstDash val="solid"/>
          </a:ln>
        </p:spPr>
      </p:sp>
      <p:sp>
        <p:nvSpPr>
          <p:cNvPr id="9" name="Text 7"/>
          <p:cNvSpPr txBox="1"/>
          <p:nvPr/>
        </p:nvSpPr>
        <p:spPr>
          <a:xfrm>
            <a:off x="3566160" y="1737360"/>
            <a:ext cx="2148840" cy="502920"/>
          </a:xfrm>
          <a:prstGeom prst="rect">
            <a:avLst/>
          </a:prstGeom>
          <a:noFill/>
          <a:ln/>
        </p:spPr>
        <p:txBody>
          <a:bodyPr wrap="square" lIns="0" tIns="0" rIns="0" bIns="0" rtlCol="0" anchor="ctr"/>
          <a:lstStyle/>
          <a:p>
            <a:pPr algn="l" indent="0" marL="0">
              <a:buNone/>
            </a:pPr>
            <a:r>
              <a:rPr lang="en-US" sz="1400" b="1" dirty="0">
                <a:solidFill>
                  <a:schemeClr val="bg1"/>
                </a:solidFill>
              </a:rPr>
              <a:t>REJECTED</a:t>
            </a:r>
            <a:pPr algn="l" indent="0" marL="0">
              <a:buNone/>
            </a:pPr>
            <a:r>
              <a:rPr lang="en-US" sz="1200" dirty="0">
                <a:solidFill>
                  <a:schemeClr val="bg1"/>
                </a:solidFill>
              </a:rPr>
              <a:t>   report closed</a:t>
            </a:r>
            <a:endParaRPr lang="en-US" sz="1400" dirty="0"/>
          </a:p>
        </p:txBody>
      </p:sp>
      <p:sp>
        <p:nvSpPr>
          <p:cNvPr id="10" name="Arrow 2"/>
          <p:cNvSpPr/>
          <p:nvPr/>
        </p:nvSpPr>
        <p:spPr>
          <a:xfrm>
            <a:off x="5870448" y="1508760"/>
            <a:ext cx="411480" cy="365760"/>
          </a:xfrm>
          <a:prstGeom prst="rightArrow">
            <a:avLst/>
          </a:prstGeom>
          <a:solidFill>
            <a:schemeClr val="accent6"/>
          </a:solidFill>
          <a:ln w="12700">
            <a:solidFill>
              <a:schemeClr val="accent6"/>
            </a:solidFill>
            <a:prstDash val="solid"/>
          </a:ln>
        </p:spPr>
      </p:sp>
      <p:sp>
        <p:nvSpPr>
          <p:cNvPr id="11" name="Status CLAIMED"/>
          <p:cNvSpPr/>
          <p:nvPr/>
        </p:nvSpPr>
        <p:spPr>
          <a:xfrm>
            <a:off x="6355080" y="1143000"/>
            <a:ext cx="2103120" cy="1097280"/>
          </a:xfrm>
          <a:prstGeom prst="roundRect">
            <a:avLst>
              <a:gd name="adj" fmla="val 6667"/>
            </a:avLst>
          </a:prstGeom>
          <a:solidFill>
            <a:schemeClr val="accent2"/>
          </a:solidFill>
          <a:ln w="12700">
            <a:solidFill>
              <a:schemeClr val="accent2"/>
            </a:solidFill>
            <a:prstDash val="solid"/>
          </a:ln>
        </p:spPr>
      </p:sp>
      <p:sp>
        <p:nvSpPr>
          <p:cNvPr id="12" name="Text 10"/>
          <p:cNvSpPr txBox="1"/>
          <p:nvPr/>
        </p:nvSpPr>
        <p:spPr>
          <a:xfrm>
            <a:off x="6492240" y="1252728"/>
            <a:ext cx="1828800" cy="914400"/>
          </a:xfrm>
          <a:prstGeom prst="rect">
            <a:avLst/>
          </a:prstGeom>
          <a:noFill/>
          <a:ln/>
        </p:spPr>
        <p:txBody>
          <a:bodyPr wrap="square" lIns="0" tIns="0" rIns="0" bIns="0" rtlCol="0" anchor="ctr"/>
          <a:lstStyle/>
          <a:p>
            <a:pPr algn="l" indent="0" marL="0">
              <a:buNone/>
            </a:pPr>
            <a:r>
              <a:rPr lang="en-US" sz="1800" b="1" dirty="0">
                <a:solidFill>
                  <a:schemeClr val="bg1"/>
                </a:solidFill>
              </a:rPr>
              <a:t>CLAIMED</a:t>
            </a:r>
            <a:endParaRPr lang="en-US" sz="1800" dirty="0"/>
          </a:p>
          <a:p>
            <a:pPr algn="l" indent="0" marL="0">
              <a:buNone/>
            </a:pPr>
            <a:r>
              <a:rPr lang="en-US" sz="1200" dirty="0">
                <a:solidFill>
                  <a:schemeClr val="bg1"/>
                </a:solidFill>
              </a:rPr>
              <a:t>Student accepts item; audit trail saved</a:t>
            </a:r>
            <a:endParaRPr lang="en-US" sz="1800" dirty="0"/>
          </a:p>
        </p:txBody>
      </p:sp>
      <p:sp>
        <p:nvSpPr>
          <p:cNvPr id="13" name="Role card 1"/>
          <p:cNvSpPr/>
          <p:nvPr/>
        </p:nvSpPr>
        <p:spPr>
          <a:xfrm>
            <a:off x="457200" y="2468880"/>
            <a:ext cx="402336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Role icon 1 bg"/>
          <p:cNvSpPr/>
          <p:nvPr/>
        </p:nvSpPr>
        <p:spPr>
          <a:xfrm>
            <a:off x="640080" y="2606040"/>
            <a:ext cx="457200" cy="457200"/>
          </a:xfrm>
          <a:prstGeom prst="ellipse">
            <a:avLst/>
          </a:prstGeom>
          <a:solidFill>
            <a:schemeClr val="accent2"/>
          </a:solidFill>
          <a:ln w="12700">
            <a:solidFill>
              <a:schemeClr val="accent2"/>
            </a:solidFill>
            <a:prstDash val="solid"/>
          </a:ln>
        </p:spPr>
      </p:sp>
      <p:pic>
        <p:nvPicPr>
          <p:cNvPr id="15" name="Role icon 1" descr="Role icon 1">    </p:cNvPr>
          <p:cNvPicPr>
            <a:picLocks noChangeAspect="1"/>
          </p:cNvPicPr>
          <p:nvPr/>
        </p:nvPicPr>
        <p:blipFill>
          <a:blip r:embed="rId1"/>
          <a:stretch>
            <a:fillRect/>
          </a:stretch>
        </p:blipFill>
        <p:spPr>
          <a:xfrm>
            <a:off x="758952" y="2724912"/>
            <a:ext cx="219456" cy="219456"/>
          </a:xfrm>
          <a:prstGeom prst="rect">
            <a:avLst/>
          </a:prstGeom>
        </p:spPr>
      </p:pic>
      <p:sp>
        <p:nvSpPr>
          <p:cNvPr id="16" name="Text 13"/>
          <p:cNvSpPr txBox="1"/>
          <p:nvPr/>
        </p:nvSpPr>
        <p:spPr>
          <a:xfrm>
            <a:off x="1234440" y="2606040"/>
            <a:ext cx="3017520" cy="457200"/>
          </a:xfrm>
          <a:prstGeom prst="rect">
            <a:avLst/>
          </a:prstGeom>
          <a:noFill/>
          <a:ln/>
        </p:spPr>
        <p:txBody>
          <a:bodyPr wrap="square" lIns="0" tIns="0" rIns="0" bIns="0" rtlCol="0" anchor="ctr"/>
          <a:lstStyle/>
          <a:p>
            <a:pPr algn="l" indent="0" marL="0">
              <a:buNone/>
            </a:pPr>
            <a:r>
              <a:rPr lang="en-US" sz="1800" b="1" dirty="0">
                <a:solidFill>
                  <a:schemeClr val="tx1"/>
                </a:solidFill>
              </a:rPr>
              <a:t>Student Portal</a:t>
            </a:r>
            <a:endParaRPr lang="en-US" sz="1800" dirty="0"/>
          </a:p>
        </p:txBody>
      </p:sp>
      <p:sp>
        <p:nvSpPr>
          <p:cNvPr id="17" name="Text 14"/>
          <p:cNvSpPr txBox="1"/>
          <p:nvPr/>
        </p:nvSpPr>
        <p:spPr>
          <a:xfrm>
            <a:off x="731520" y="3154680"/>
            <a:ext cx="3566160" cy="1463040"/>
          </a:xfrm>
          <a:prstGeom prst="rect">
            <a:avLst/>
          </a:prstGeom>
          <a:noFill/>
          <a:ln/>
        </p:spPr>
        <p:txBody>
          <a:bodyPr wrap="square" lIns="0" tIns="0" rIns="0" bIns="0" rtlCol="0" anchor="t"/>
          <a:lstStyle/>
          <a:p>
            <a:pPr algn="l" marL="342900" indent="-342900">
              <a:spcAft>
                <a:spcPts val="200"/>
              </a:spcAft>
              <a:buSzPct val="100000"/>
              <a:buChar char="•"/>
            </a:pPr>
            <a:r>
              <a:rPr lang="en-US" sz="1300" dirty="0">
                <a:solidFill>
                  <a:schemeClr val="tx1"/>
                </a:solidFill>
              </a:rPr>
              <a:t>Report lost items</a:t>
            </a:r>
            <a:endParaRPr lang="en-US" sz="1300" dirty="0"/>
          </a:p>
          <a:p>
            <a:pPr algn="l" marL="342900" indent="-342900">
              <a:spcAft>
                <a:spcPts val="200"/>
              </a:spcAft>
              <a:buSzPct val="100000"/>
              <a:buChar char="•"/>
            </a:pPr>
            <a:r>
              <a:rPr lang="en-US" sz="1300" dirty="0">
                <a:solidFill>
                  <a:schemeClr val="tx1"/>
                </a:solidFill>
              </a:rPr>
              <a:t>Report found items</a:t>
            </a:r>
            <a:endParaRPr lang="en-US" sz="1300" dirty="0"/>
          </a:p>
          <a:p>
            <a:pPr algn="l" marL="342900" indent="-342900">
              <a:spcAft>
                <a:spcPts val="200"/>
              </a:spcAft>
              <a:buSzPct val="100000"/>
              <a:buChar char="•"/>
            </a:pPr>
            <a:r>
              <a:rPr lang="en-US" sz="1300" dirty="0">
                <a:solidFill>
                  <a:schemeClr val="tx1"/>
                </a:solidFill>
              </a:rPr>
              <a:t>My Reports with colour-coded status</a:t>
            </a:r>
            <a:endParaRPr lang="en-US" sz="1300" dirty="0"/>
          </a:p>
          <a:p>
            <a:pPr algn="l" marL="342900" indent="-342900">
              <a:spcAft>
                <a:spcPts val="200"/>
              </a:spcAft>
              <a:buSzPct val="100000"/>
              <a:buChar char="•"/>
            </a:pPr>
            <a:r>
              <a:rPr lang="en-US" sz="1300" dirty="0">
                <a:solidFill>
                  <a:schemeClr val="tx1"/>
                </a:solidFill>
              </a:rPr>
              <a:t>In-app notifications and approvals</a:t>
            </a:r>
            <a:endParaRPr lang="en-US" sz="1300" dirty="0"/>
          </a:p>
          <a:p>
            <a:pPr algn="l" marL="342900" indent="-342900">
              <a:spcAft>
                <a:spcPts val="200"/>
              </a:spcAft>
              <a:buSzPct val="100000"/>
              <a:buChar char="•"/>
            </a:pPr>
            <a:r>
              <a:rPr lang="en-US" sz="1300" dirty="0">
                <a:solidFill>
                  <a:schemeClr val="tx1"/>
                </a:solidFill>
              </a:rPr>
              <a:t>Claim history and handover details</a:t>
            </a:r>
            <a:endParaRPr lang="en-US" sz="1300" dirty="0"/>
          </a:p>
        </p:txBody>
      </p:sp>
      <p:sp>
        <p:nvSpPr>
          <p:cNvPr id="18" name="Role card 2"/>
          <p:cNvSpPr/>
          <p:nvPr/>
        </p:nvSpPr>
        <p:spPr>
          <a:xfrm>
            <a:off x="4663440" y="2468880"/>
            <a:ext cx="402336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Role icon 2 bg"/>
          <p:cNvSpPr/>
          <p:nvPr/>
        </p:nvSpPr>
        <p:spPr>
          <a:xfrm>
            <a:off x="4846320" y="2606040"/>
            <a:ext cx="457200" cy="457200"/>
          </a:xfrm>
          <a:prstGeom prst="ellipse">
            <a:avLst/>
          </a:prstGeom>
          <a:solidFill>
            <a:schemeClr val="accent2"/>
          </a:solidFill>
          <a:ln w="12700">
            <a:solidFill>
              <a:schemeClr val="accent2"/>
            </a:solidFill>
            <a:prstDash val="solid"/>
          </a:ln>
        </p:spPr>
      </p:sp>
      <p:pic>
        <p:nvPicPr>
          <p:cNvPr id="20" name="Role icon 2" descr="Role icon 2">    </p:cNvPr>
          <p:cNvPicPr>
            <a:picLocks noChangeAspect="1"/>
          </p:cNvPicPr>
          <p:nvPr/>
        </p:nvPicPr>
        <p:blipFill>
          <a:blip r:embed="rId2"/>
          <a:stretch>
            <a:fillRect/>
          </a:stretch>
        </p:blipFill>
        <p:spPr>
          <a:xfrm>
            <a:off x="4965192" y="2724912"/>
            <a:ext cx="219456" cy="219456"/>
          </a:xfrm>
          <a:prstGeom prst="rect">
            <a:avLst/>
          </a:prstGeom>
        </p:spPr>
      </p:pic>
      <p:sp>
        <p:nvSpPr>
          <p:cNvPr id="21" name="Text 17"/>
          <p:cNvSpPr txBox="1"/>
          <p:nvPr/>
        </p:nvSpPr>
        <p:spPr>
          <a:xfrm>
            <a:off x="5440680" y="2606040"/>
            <a:ext cx="3017520" cy="457200"/>
          </a:xfrm>
          <a:prstGeom prst="rect">
            <a:avLst/>
          </a:prstGeom>
          <a:noFill/>
          <a:ln/>
        </p:spPr>
        <p:txBody>
          <a:bodyPr wrap="square" lIns="0" tIns="0" rIns="0" bIns="0" rtlCol="0" anchor="ctr"/>
          <a:lstStyle/>
          <a:p>
            <a:pPr algn="l" indent="0" marL="0">
              <a:buNone/>
            </a:pPr>
            <a:r>
              <a:rPr lang="en-US" sz="1800" b="1" dirty="0">
                <a:solidFill>
                  <a:schemeClr val="tx1"/>
                </a:solidFill>
              </a:rPr>
              <a:t>Admin Console</a:t>
            </a:r>
            <a:endParaRPr lang="en-US" sz="1800" dirty="0"/>
          </a:p>
        </p:txBody>
      </p:sp>
      <p:sp>
        <p:nvSpPr>
          <p:cNvPr id="22" name="Text 18"/>
          <p:cNvSpPr txBox="1"/>
          <p:nvPr/>
        </p:nvSpPr>
        <p:spPr>
          <a:xfrm>
            <a:off x="4937760" y="3154680"/>
            <a:ext cx="3566160" cy="1463040"/>
          </a:xfrm>
          <a:prstGeom prst="rect">
            <a:avLst/>
          </a:prstGeom>
          <a:noFill/>
          <a:ln/>
        </p:spPr>
        <p:txBody>
          <a:bodyPr wrap="square" lIns="0" tIns="0" rIns="0" bIns="0" rtlCol="0" anchor="t"/>
          <a:lstStyle/>
          <a:p>
            <a:pPr algn="l" marL="342900" indent="-342900">
              <a:spcAft>
                <a:spcPts val="200"/>
              </a:spcAft>
              <a:buSzPct val="100000"/>
              <a:buChar char="•"/>
            </a:pPr>
            <a:r>
              <a:rPr lang="en-US" sz="1300" dirty="0">
                <a:solidFill>
                  <a:schemeClr val="tx1"/>
                </a:solidFill>
              </a:rPr>
              <a:t>Registered students directory</a:t>
            </a:r>
            <a:endParaRPr lang="en-US" sz="1300" dirty="0"/>
          </a:p>
          <a:p>
            <a:pPr algn="l" marL="342900" indent="-342900">
              <a:spcAft>
                <a:spcPts val="200"/>
              </a:spcAft>
              <a:buSzPct val="100000"/>
              <a:buChar char="•"/>
            </a:pPr>
            <a:r>
              <a:rPr lang="en-US" sz="1300" dirty="0">
                <a:solidFill>
                  <a:schemeClr val="tx1"/>
                </a:solidFill>
              </a:rPr>
              <a:t>Review pending found items</a:t>
            </a:r>
            <a:endParaRPr lang="en-US" sz="1300" dirty="0"/>
          </a:p>
          <a:p>
            <a:pPr algn="l" marL="342900" indent="-342900">
              <a:spcAft>
                <a:spcPts val="200"/>
              </a:spcAft>
              <a:buSzPct val="100000"/>
              <a:buChar char="•"/>
            </a:pPr>
            <a:r>
              <a:rPr lang="en-US" sz="1300" dirty="0">
                <a:solidFill>
                  <a:schemeClr val="tx1"/>
                </a:solidFill>
              </a:rPr>
              <a:t>Direct desk found-item entry</a:t>
            </a:r>
            <a:endParaRPr lang="en-US" sz="1300" dirty="0"/>
          </a:p>
          <a:p>
            <a:pPr algn="l" marL="342900" indent="-342900">
              <a:spcAft>
                <a:spcPts val="200"/>
              </a:spcAft>
              <a:buSzPct val="100000"/>
              <a:buChar char="•"/>
            </a:pPr>
            <a:r>
              <a:rPr lang="en-US" sz="1300" dirty="0">
                <a:solidFill>
                  <a:schemeClr val="tx1"/>
                </a:solidFill>
              </a:rPr>
              <a:t>Review pending lost items</a:t>
            </a:r>
            <a:endParaRPr lang="en-US" sz="1300" dirty="0"/>
          </a:p>
          <a:p>
            <a:pPr algn="l" marL="342900" indent="-342900">
              <a:spcAft>
                <a:spcPts val="200"/>
              </a:spcAft>
              <a:buSzPct val="100000"/>
              <a:buChar char="•"/>
            </a:pPr>
            <a:r>
              <a:rPr lang="en-US" sz="1300" dirty="0">
                <a:solidFill>
                  <a:schemeClr val="tx1"/>
                </a:solidFill>
              </a:rPr>
              <a:t>Claimed items audit and resolution</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Database Design (3NF Schema)</a:t>
            </a:r>
            <a:endParaRPr lang="en-US" sz="3000" dirty="0"/>
          </a:p>
        </p:txBody>
      </p:sp>
      <p:sp>
        <p:nvSpPr>
          <p:cNvPr id="3" name="Table card users"/>
          <p:cNvSpPr/>
          <p:nvPr/>
        </p:nvSpPr>
        <p:spPr>
          <a:xfrm>
            <a:off x="457200" y="1143000"/>
            <a:ext cx="1920240" cy="228600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able header users"/>
          <p:cNvSpPr/>
          <p:nvPr/>
        </p:nvSpPr>
        <p:spPr>
          <a:xfrm>
            <a:off x="457200" y="1143000"/>
            <a:ext cx="1920240" cy="457200"/>
          </a:xfrm>
          <a:prstGeom prst="roundRect">
            <a:avLst>
              <a:gd name="adj" fmla="val 16000"/>
            </a:avLst>
          </a:prstGeom>
          <a:solidFill>
            <a:schemeClr val="tx1"/>
          </a:solidFill>
          <a:ln w="12700">
            <a:solidFill>
              <a:schemeClr val="tx1"/>
            </a:solidFill>
            <a:prstDash val="solid"/>
          </a:ln>
        </p:spPr>
      </p:sp>
      <p:sp>
        <p:nvSpPr>
          <p:cNvPr id="5" name="Text 3"/>
          <p:cNvSpPr txBox="1"/>
          <p:nvPr/>
        </p:nvSpPr>
        <p:spPr>
          <a:xfrm>
            <a:off x="594360" y="1143000"/>
            <a:ext cx="1645920" cy="457200"/>
          </a:xfrm>
          <a:prstGeom prst="rect">
            <a:avLst/>
          </a:prstGeom>
          <a:noFill/>
          <a:ln/>
        </p:spPr>
        <p:txBody>
          <a:bodyPr wrap="square" lIns="0" tIns="0" rIns="0" bIns="0" rtlCol="0" anchor="ctr"/>
          <a:lstStyle/>
          <a:p>
            <a:pPr algn="l" indent="0" marL="0">
              <a:buNone/>
            </a:pPr>
            <a:r>
              <a:rPr lang="en-US" sz="1500" b="1" dirty="0">
                <a:solidFill>
                  <a:schemeClr val="accent1"/>
                </a:solidFill>
              </a:rPr>
              <a:t>users</a:t>
            </a:r>
            <a:endParaRPr lang="en-US" sz="1500" dirty="0"/>
          </a:p>
        </p:txBody>
      </p:sp>
      <p:sp>
        <p:nvSpPr>
          <p:cNvPr id="6" name="Text 4"/>
          <p:cNvSpPr txBox="1"/>
          <p:nvPr/>
        </p:nvSpPr>
        <p:spPr>
          <a:xfrm>
            <a:off x="594360" y="1737360"/>
            <a:ext cx="1645920" cy="1737360"/>
          </a:xfrm>
          <a:prstGeom prst="rect">
            <a:avLst/>
          </a:prstGeom>
          <a:noFill/>
          <a:ln/>
        </p:spPr>
        <p:txBody>
          <a:bodyPr wrap="square" lIns="0" tIns="0" rIns="0" bIns="0" rtlCol="0" anchor="t"/>
          <a:lstStyle/>
          <a:p>
            <a:pPr algn="l" indent="0" marL="0">
              <a:spcAft>
                <a:spcPts val="400"/>
              </a:spcAft>
              <a:buNone/>
            </a:pPr>
            <a:r>
              <a:rPr lang="en-US" sz="1200" dirty="0">
                <a:solidFill>
                  <a:schemeClr val="tx1"/>
                </a:solidFill>
              </a:rPr>
              <a:t>id (PK)</a:t>
            </a:r>
            <a:endParaRPr lang="en-US" sz="1200" dirty="0"/>
          </a:p>
          <a:p>
            <a:pPr algn="l" indent="0" marL="0">
              <a:spcAft>
                <a:spcPts val="400"/>
              </a:spcAft>
              <a:buNone/>
            </a:pPr>
            <a:r>
              <a:rPr lang="en-US" sz="1200" dirty="0">
                <a:solidFill>
                  <a:schemeClr val="tx1"/>
                </a:solidFill>
              </a:rPr>
              <a:t>full_name</a:t>
            </a:r>
            <a:endParaRPr lang="en-US" sz="1200" dirty="0"/>
          </a:p>
          <a:p>
            <a:pPr algn="l" indent="0" marL="0">
              <a:spcAft>
                <a:spcPts val="400"/>
              </a:spcAft>
              <a:buNone/>
            </a:pPr>
            <a:r>
              <a:rPr lang="en-US" sz="1200" dirty="0">
                <a:solidFill>
                  <a:schemeClr val="tx1"/>
                </a:solidFill>
              </a:rPr>
              <a:t>email (UK)</a:t>
            </a:r>
            <a:endParaRPr lang="en-US" sz="1200" dirty="0"/>
          </a:p>
          <a:p>
            <a:pPr algn="l" indent="0" marL="0">
              <a:spcAft>
                <a:spcPts val="400"/>
              </a:spcAft>
              <a:buNone/>
            </a:pPr>
            <a:r>
              <a:rPr lang="en-US" sz="1200" dirty="0">
                <a:solidFill>
                  <a:schemeClr val="tx1"/>
                </a:solidFill>
              </a:rPr>
              <a:t>role: STUDENT / ADMIN</a:t>
            </a:r>
            <a:endParaRPr lang="en-US" sz="1200" dirty="0"/>
          </a:p>
          <a:p>
            <a:pPr algn="l" indent="0" marL="0">
              <a:spcAft>
                <a:spcPts val="400"/>
              </a:spcAft>
              <a:buNone/>
            </a:pPr>
            <a:r>
              <a:rPr lang="en-US" sz="1200" dirty="0">
                <a:solidFill>
                  <a:schemeClr val="tx1"/>
                </a:solidFill>
              </a:rPr>
              <a:t>phone</a:t>
            </a:r>
            <a:endParaRPr lang="en-US" sz="1200" dirty="0"/>
          </a:p>
          <a:p>
            <a:pPr algn="l" indent="0" marL="0">
              <a:spcAft>
                <a:spcPts val="400"/>
              </a:spcAft>
              <a:buNone/>
            </a:pPr>
            <a:r>
              <a:rPr lang="en-US" sz="1200" dirty="0">
                <a:solidFill>
                  <a:schemeClr val="tx1"/>
                </a:solidFill>
              </a:rPr>
              <a:t>college_id</a:t>
            </a:r>
            <a:endParaRPr lang="en-US" sz="1200" dirty="0"/>
          </a:p>
        </p:txBody>
      </p:sp>
      <p:sp>
        <p:nvSpPr>
          <p:cNvPr id="7" name="Table card lost_items"/>
          <p:cNvSpPr/>
          <p:nvPr/>
        </p:nvSpPr>
        <p:spPr>
          <a:xfrm>
            <a:off x="2560320" y="1143000"/>
            <a:ext cx="1920240" cy="228600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able header lost_items"/>
          <p:cNvSpPr/>
          <p:nvPr/>
        </p:nvSpPr>
        <p:spPr>
          <a:xfrm>
            <a:off x="2560320" y="1143000"/>
            <a:ext cx="1920240" cy="457200"/>
          </a:xfrm>
          <a:prstGeom prst="roundRect">
            <a:avLst>
              <a:gd name="adj" fmla="val 16000"/>
            </a:avLst>
          </a:prstGeom>
          <a:solidFill>
            <a:schemeClr val="tx1"/>
          </a:solidFill>
          <a:ln w="12700">
            <a:solidFill>
              <a:schemeClr val="tx1"/>
            </a:solidFill>
            <a:prstDash val="solid"/>
          </a:ln>
        </p:spPr>
      </p:sp>
      <p:sp>
        <p:nvSpPr>
          <p:cNvPr id="9" name="Text 7"/>
          <p:cNvSpPr txBox="1"/>
          <p:nvPr/>
        </p:nvSpPr>
        <p:spPr>
          <a:xfrm>
            <a:off x="2697480" y="1143000"/>
            <a:ext cx="1645920" cy="457200"/>
          </a:xfrm>
          <a:prstGeom prst="rect">
            <a:avLst/>
          </a:prstGeom>
          <a:noFill/>
          <a:ln/>
        </p:spPr>
        <p:txBody>
          <a:bodyPr wrap="square" lIns="0" tIns="0" rIns="0" bIns="0" rtlCol="0" anchor="ctr"/>
          <a:lstStyle/>
          <a:p>
            <a:pPr algn="l" indent="0" marL="0">
              <a:buNone/>
            </a:pPr>
            <a:r>
              <a:rPr lang="en-US" sz="1500" b="1" dirty="0">
                <a:solidFill>
                  <a:schemeClr val="accent1"/>
                </a:solidFill>
              </a:rPr>
              <a:t>lost_items</a:t>
            </a:r>
            <a:endParaRPr lang="en-US" sz="1500" dirty="0"/>
          </a:p>
        </p:txBody>
      </p:sp>
      <p:sp>
        <p:nvSpPr>
          <p:cNvPr id="10" name="Text 8"/>
          <p:cNvSpPr txBox="1"/>
          <p:nvPr/>
        </p:nvSpPr>
        <p:spPr>
          <a:xfrm>
            <a:off x="2697480" y="1737360"/>
            <a:ext cx="1645920" cy="1737360"/>
          </a:xfrm>
          <a:prstGeom prst="rect">
            <a:avLst/>
          </a:prstGeom>
          <a:noFill/>
          <a:ln/>
        </p:spPr>
        <p:txBody>
          <a:bodyPr wrap="square" lIns="0" tIns="0" rIns="0" bIns="0" rtlCol="0" anchor="t"/>
          <a:lstStyle/>
          <a:p>
            <a:pPr algn="l" indent="0" marL="0">
              <a:spcAft>
                <a:spcPts val="400"/>
              </a:spcAft>
              <a:buNone/>
            </a:pPr>
            <a:r>
              <a:rPr lang="en-US" sz="1200" dirty="0">
                <a:solidFill>
                  <a:schemeClr val="tx1"/>
                </a:solidFill>
              </a:rPr>
              <a:t>id (PK)</a:t>
            </a:r>
            <a:endParaRPr lang="en-US" sz="1200" dirty="0"/>
          </a:p>
          <a:p>
            <a:pPr algn="l" indent="0" marL="0">
              <a:spcAft>
                <a:spcPts val="400"/>
              </a:spcAft>
              <a:buNone/>
            </a:pPr>
            <a:r>
              <a:rPr lang="en-US" sz="1200" dirty="0">
                <a:solidFill>
                  <a:schemeClr val="tx1"/>
                </a:solidFill>
              </a:rPr>
              <a:t>user_id (FK)</a:t>
            </a:r>
            <a:endParaRPr lang="en-US" sz="1200" dirty="0"/>
          </a:p>
          <a:p>
            <a:pPr algn="l" indent="0" marL="0">
              <a:spcAft>
                <a:spcPts val="400"/>
              </a:spcAft>
              <a:buNone/>
            </a:pPr>
            <a:r>
              <a:rPr lang="en-US" sz="1200" dirty="0">
                <a:solidFill>
                  <a:schemeClr val="tx1"/>
                </a:solidFill>
              </a:rPr>
              <a:t>item_name</a:t>
            </a:r>
            <a:endParaRPr lang="en-US" sz="1200" dirty="0"/>
          </a:p>
          <a:p>
            <a:pPr algn="l" indent="0" marL="0">
              <a:spcAft>
                <a:spcPts val="400"/>
              </a:spcAft>
              <a:buNone/>
            </a:pPr>
            <a:r>
              <a:rPr lang="en-US" sz="1200" dirty="0">
                <a:solidFill>
                  <a:schemeClr val="tx1"/>
                </a:solidFill>
              </a:rPr>
              <a:t>category</a:t>
            </a:r>
            <a:endParaRPr lang="en-US" sz="1200" dirty="0"/>
          </a:p>
          <a:p>
            <a:pPr algn="l" indent="0" marL="0">
              <a:spcAft>
                <a:spcPts val="400"/>
              </a:spcAft>
              <a:buNone/>
            </a:pPr>
            <a:r>
              <a:rPr lang="en-US" sz="1200" dirty="0">
                <a:solidFill>
                  <a:schemeClr val="tx1"/>
                </a:solidFill>
              </a:rPr>
              <a:t>location, lost_date</a:t>
            </a:r>
            <a:endParaRPr lang="en-US" sz="1200" dirty="0"/>
          </a:p>
          <a:p>
            <a:pPr algn="l" indent="0" marL="0">
              <a:spcAft>
                <a:spcPts val="400"/>
              </a:spcAft>
              <a:buNone/>
            </a:pPr>
            <a:r>
              <a:rPr lang="en-US" sz="1200" dirty="0">
                <a:solidFill>
                  <a:schemeClr val="tx1"/>
                </a:solidFill>
              </a:rPr>
              <a:t>status</a:t>
            </a:r>
            <a:endParaRPr lang="en-US" sz="1200" dirty="0"/>
          </a:p>
        </p:txBody>
      </p:sp>
      <p:sp>
        <p:nvSpPr>
          <p:cNvPr id="11" name="Table card found_items"/>
          <p:cNvSpPr/>
          <p:nvPr/>
        </p:nvSpPr>
        <p:spPr>
          <a:xfrm>
            <a:off x="4663440" y="1143000"/>
            <a:ext cx="1920240" cy="228600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able header found_items"/>
          <p:cNvSpPr/>
          <p:nvPr/>
        </p:nvSpPr>
        <p:spPr>
          <a:xfrm>
            <a:off x="4663440" y="1143000"/>
            <a:ext cx="1920240" cy="457200"/>
          </a:xfrm>
          <a:prstGeom prst="roundRect">
            <a:avLst>
              <a:gd name="adj" fmla="val 16000"/>
            </a:avLst>
          </a:prstGeom>
          <a:solidFill>
            <a:schemeClr val="tx1"/>
          </a:solidFill>
          <a:ln w="12700">
            <a:solidFill>
              <a:schemeClr val="tx1"/>
            </a:solidFill>
            <a:prstDash val="solid"/>
          </a:ln>
        </p:spPr>
      </p:sp>
      <p:sp>
        <p:nvSpPr>
          <p:cNvPr id="13" name="Text 11"/>
          <p:cNvSpPr txBox="1"/>
          <p:nvPr/>
        </p:nvSpPr>
        <p:spPr>
          <a:xfrm>
            <a:off x="4800600" y="1143000"/>
            <a:ext cx="1645920" cy="457200"/>
          </a:xfrm>
          <a:prstGeom prst="rect">
            <a:avLst/>
          </a:prstGeom>
          <a:noFill/>
          <a:ln/>
        </p:spPr>
        <p:txBody>
          <a:bodyPr wrap="square" lIns="0" tIns="0" rIns="0" bIns="0" rtlCol="0" anchor="ctr"/>
          <a:lstStyle/>
          <a:p>
            <a:pPr algn="l" indent="0" marL="0">
              <a:buNone/>
            </a:pPr>
            <a:r>
              <a:rPr lang="en-US" sz="1500" b="1" dirty="0">
                <a:solidFill>
                  <a:schemeClr val="accent1"/>
                </a:solidFill>
              </a:rPr>
              <a:t>found_items</a:t>
            </a:r>
            <a:endParaRPr lang="en-US" sz="1500" dirty="0"/>
          </a:p>
        </p:txBody>
      </p:sp>
      <p:sp>
        <p:nvSpPr>
          <p:cNvPr id="14" name="Text 12"/>
          <p:cNvSpPr txBox="1"/>
          <p:nvPr/>
        </p:nvSpPr>
        <p:spPr>
          <a:xfrm>
            <a:off x="4800600" y="1737360"/>
            <a:ext cx="1645920" cy="1737360"/>
          </a:xfrm>
          <a:prstGeom prst="rect">
            <a:avLst/>
          </a:prstGeom>
          <a:noFill/>
          <a:ln/>
        </p:spPr>
        <p:txBody>
          <a:bodyPr wrap="square" lIns="0" tIns="0" rIns="0" bIns="0" rtlCol="0" anchor="t"/>
          <a:lstStyle/>
          <a:p>
            <a:pPr algn="l" indent="0" marL="0">
              <a:spcAft>
                <a:spcPts val="400"/>
              </a:spcAft>
              <a:buNone/>
            </a:pPr>
            <a:r>
              <a:rPr lang="en-US" sz="1200" dirty="0">
                <a:solidFill>
                  <a:schemeClr val="tx1"/>
                </a:solidFill>
              </a:rPr>
              <a:t>id (PK)</a:t>
            </a:r>
            <a:endParaRPr lang="en-US" sz="1200" dirty="0"/>
          </a:p>
          <a:p>
            <a:pPr algn="l" indent="0" marL="0">
              <a:spcAft>
                <a:spcPts val="400"/>
              </a:spcAft>
              <a:buNone/>
            </a:pPr>
            <a:r>
              <a:rPr lang="en-US" sz="1200" dirty="0">
                <a:solidFill>
                  <a:schemeClr val="tx1"/>
                </a:solidFill>
              </a:rPr>
              <a:t>user_id (FK)</a:t>
            </a:r>
            <a:endParaRPr lang="en-US" sz="1200" dirty="0"/>
          </a:p>
          <a:p>
            <a:pPr algn="l" indent="0" marL="0">
              <a:spcAft>
                <a:spcPts val="400"/>
              </a:spcAft>
              <a:buNone/>
            </a:pPr>
            <a:r>
              <a:rPr lang="en-US" sz="1200" dirty="0">
                <a:solidFill>
                  <a:schemeClr val="tx1"/>
                </a:solidFill>
              </a:rPr>
              <a:t>item_name, category</a:t>
            </a:r>
            <a:endParaRPr lang="en-US" sz="1200" dirty="0"/>
          </a:p>
          <a:p>
            <a:pPr algn="l" indent="0" marL="0">
              <a:spcAft>
                <a:spcPts val="400"/>
              </a:spcAft>
              <a:buNone/>
            </a:pPr>
            <a:r>
              <a:rPr lang="en-US" sz="1200" dirty="0">
                <a:solidFill>
                  <a:schemeClr val="tx1"/>
                </a:solidFill>
              </a:rPr>
              <a:t>found_location</a:t>
            </a:r>
            <a:endParaRPr lang="en-US" sz="1200" dirty="0"/>
          </a:p>
          <a:p>
            <a:pPr algn="l" indent="0" marL="0">
              <a:spcAft>
                <a:spcPts val="400"/>
              </a:spcAft>
              <a:buNone/>
            </a:pPr>
            <a:r>
              <a:rPr lang="en-US" sz="1200" dirty="0">
                <a:solidFill>
                  <a:schemeClr val="tx1"/>
                </a:solidFill>
              </a:rPr>
              <a:t>storage_location</a:t>
            </a:r>
            <a:endParaRPr lang="en-US" sz="1200" dirty="0"/>
          </a:p>
          <a:p>
            <a:pPr algn="l" indent="0" marL="0">
              <a:spcAft>
                <a:spcPts val="400"/>
              </a:spcAft>
              <a:buNone/>
            </a:pPr>
            <a:r>
              <a:rPr lang="en-US" sz="1200" dirty="0">
                <a:solidFill>
                  <a:schemeClr val="tx1"/>
                </a:solidFill>
              </a:rPr>
              <a:t>status</a:t>
            </a:r>
            <a:endParaRPr lang="en-US" sz="1200" dirty="0"/>
          </a:p>
        </p:txBody>
      </p:sp>
      <p:sp>
        <p:nvSpPr>
          <p:cNvPr id="15" name="Table card claims"/>
          <p:cNvSpPr/>
          <p:nvPr/>
        </p:nvSpPr>
        <p:spPr>
          <a:xfrm>
            <a:off x="6766560" y="1143000"/>
            <a:ext cx="1920240" cy="228600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able header claims"/>
          <p:cNvSpPr/>
          <p:nvPr/>
        </p:nvSpPr>
        <p:spPr>
          <a:xfrm>
            <a:off x="6766560" y="1143000"/>
            <a:ext cx="1920240" cy="457200"/>
          </a:xfrm>
          <a:prstGeom prst="roundRect">
            <a:avLst>
              <a:gd name="adj" fmla="val 16000"/>
            </a:avLst>
          </a:prstGeom>
          <a:solidFill>
            <a:schemeClr val="tx1"/>
          </a:solidFill>
          <a:ln w="12700">
            <a:solidFill>
              <a:schemeClr val="tx1"/>
            </a:solidFill>
            <a:prstDash val="solid"/>
          </a:ln>
        </p:spPr>
      </p:sp>
      <p:sp>
        <p:nvSpPr>
          <p:cNvPr id="17" name="Text 15"/>
          <p:cNvSpPr txBox="1"/>
          <p:nvPr/>
        </p:nvSpPr>
        <p:spPr>
          <a:xfrm>
            <a:off x="6903720" y="1143000"/>
            <a:ext cx="1645920" cy="457200"/>
          </a:xfrm>
          <a:prstGeom prst="rect">
            <a:avLst/>
          </a:prstGeom>
          <a:noFill/>
          <a:ln/>
        </p:spPr>
        <p:txBody>
          <a:bodyPr wrap="square" lIns="0" tIns="0" rIns="0" bIns="0" rtlCol="0" anchor="ctr"/>
          <a:lstStyle/>
          <a:p>
            <a:pPr algn="l" indent="0" marL="0">
              <a:buNone/>
            </a:pPr>
            <a:r>
              <a:rPr lang="en-US" sz="1500" b="1" dirty="0">
                <a:solidFill>
                  <a:schemeClr val="accent1"/>
                </a:solidFill>
              </a:rPr>
              <a:t>claims</a:t>
            </a:r>
            <a:endParaRPr lang="en-US" sz="1500" dirty="0"/>
          </a:p>
        </p:txBody>
      </p:sp>
      <p:sp>
        <p:nvSpPr>
          <p:cNvPr id="18" name="Text 16"/>
          <p:cNvSpPr txBox="1"/>
          <p:nvPr/>
        </p:nvSpPr>
        <p:spPr>
          <a:xfrm>
            <a:off x="6903720" y="1737360"/>
            <a:ext cx="1645920" cy="1737360"/>
          </a:xfrm>
          <a:prstGeom prst="rect">
            <a:avLst/>
          </a:prstGeom>
          <a:noFill/>
          <a:ln/>
        </p:spPr>
        <p:txBody>
          <a:bodyPr wrap="square" lIns="0" tIns="0" rIns="0" bIns="0" rtlCol="0" anchor="t"/>
          <a:lstStyle/>
          <a:p>
            <a:pPr algn="l" indent="0" marL="0">
              <a:spcAft>
                <a:spcPts val="400"/>
              </a:spcAft>
              <a:buNone/>
            </a:pPr>
            <a:r>
              <a:rPr lang="en-US" sz="1200" dirty="0">
                <a:solidFill>
                  <a:schemeClr val="tx1"/>
                </a:solidFill>
              </a:rPr>
              <a:t>id (PK)</a:t>
            </a:r>
            <a:endParaRPr lang="en-US" sz="1200" dirty="0"/>
          </a:p>
          <a:p>
            <a:pPr algn="l" indent="0" marL="0">
              <a:spcAft>
                <a:spcPts val="400"/>
              </a:spcAft>
              <a:buNone/>
            </a:pPr>
            <a:r>
              <a:rPr lang="en-US" sz="1200" dirty="0">
                <a:solidFill>
                  <a:schemeClr val="tx1"/>
                </a:solidFill>
              </a:rPr>
              <a:t>lost_item_id (FK)</a:t>
            </a:r>
            <a:endParaRPr lang="en-US" sz="1200" dirty="0"/>
          </a:p>
          <a:p>
            <a:pPr algn="l" indent="0" marL="0">
              <a:spcAft>
                <a:spcPts val="400"/>
              </a:spcAft>
              <a:buNone/>
            </a:pPr>
            <a:r>
              <a:rPr lang="en-US" sz="1200" dirty="0">
                <a:solidFill>
                  <a:schemeClr val="tx1"/>
                </a:solidFill>
              </a:rPr>
              <a:t>found_item_id (FK)</a:t>
            </a:r>
            <a:endParaRPr lang="en-US" sz="1200" dirty="0"/>
          </a:p>
          <a:p>
            <a:pPr algn="l" indent="0" marL="0">
              <a:spcAft>
                <a:spcPts val="400"/>
              </a:spcAft>
              <a:buNone/>
            </a:pPr>
            <a:r>
              <a:rPr lang="en-US" sz="1200" dirty="0">
                <a:solidFill>
                  <a:schemeClr val="tx1"/>
                </a:solidFill>
              </a:rPr>
              <a:t>claimant_id (FK)</a:t>
            </a:r>
            <a:endParaRPr lang="en-US" sz="1200" dirty="0"/>
          </a:p>
          <a:p>
            <a:pPr algn="l" indent="0" marL="0">
              <a:spcAft>
                <a:spcPts val="400"/>
              </a:spcAft>
              <a:buNone/>
            </a:pPr>
            <a:r>
              <a:rPr lang="en-US" sz="1200" dirty="0">
                <a:solidFill>
                  <a:schemeClr val="tx1"/>
                </a:solidFill>
              </a:rPr>
              <a:t>proof_details</a:t>
            </a:r>
            <a:endParaRPr lang="en-US" sz="1200" dirty="0"/>
          </a:p>
          <a:p>
            <a:pPr algn="l" indent="0" marL="0">
              <a:spcAft>
                <a:spcPts val="400"/>
              </a:spcAft>
              <a:buNone/>
            </a:pPr>
            <a:r>
              <a:rPr lang="en-US" sz="1200" dirty="0">
                <a:solidFill>
                  <a:schemeClr val="tx1"/>
                </a:solidFill>
              </a:rPr>
              <a:t>claim_status</a:t>
            </a:r>
            <a:endParaRPr lang="en-US" sz="1200" dirty="0"/>
          </a:p>
        </p:txBody>
      </p:sp>
      <p:sp>
        <p:nvSpPr>
          <p:cNvPr id="19" name="Text 17"/>
          <p:cNvSpPr txBox="1"/>
          <p:nvPr/>
        </p:nvSpPr>
        <p:spPr>
          <a:xfrm>
            <a:off x="457200" y="3611880"/>
            <a:ext cx="8229600" cy="228600"/>
          </a:xfrm>
          <a:prstGeom prst="rect">
            <a:avLst/>
          </a:prstGeom>
          <a:noFill/>
          <a:ln/>
        </p:spPr>
        <p:txBody>
          <a:bodyPr wrap="square" lIns="0" tIns="0" rIns="0" bIns="0" rtlCol="0" anchor="t"/>
          <a:lstStyle/>
          <a:p>
            <a:pPr algn="l" indent="0" marL="0">
              <a:buNone/>
            </a:pPr>
            <a:r>
              <a:rPr lang="en-US" sz="1100" i="1" dirty="0">
                <a:solidFill>
                  <a:schemeClr val="tx2"/>
                </a:solidFill>
              </a:rPr>
              <a:t>users 1 : N lost_items, found_items, claims   |   found_items 1 : N claims   |   lost_items 1 : N claims (optional link)</a:t>
            </a:r>
            <a:endParaRPr lang="en-US" sz="1100" dirty="0"/>
          </a:p>
        </p:txBody>
      </p:sp>
      <p:sp>
        <p:nvSpPr>
          <p:cNvPr id="20" name="Chip 1"/>
          <p:cNvSpPr/>
          <p:nvPr/>
        </p:nvSpPr>
        <p:spPr>
          <a:xfrm>
            <a:off x="457200" y="4023360"/>
            <a:ext cx="1920240" cy="640080"/>
          </a:xfrm>
          <a:prstGeom prst="roundRect">
            <a:avLst>
              <a:gd name="adj" fmla="val 11429"/>
            </a:avLst>
          </a:prstGeom>
          <a:solidFill>
            <a:schemeClr val="tx1"/>
          </a:solidFill>
          <a:ln w="12700">
            <a:solidFill>
              <a:schemeClr val="tx1"/>
            </a:solidFill>
            <a:prstDash val="solid"/>
          </a:ln>
        </p:spPr>
      </p:sp>
      <p:sp>
        <p:nvSpPr>
          <p:cNvPr id="21" name="Text 19"/>
          <p:cNvSpPr txBox="1"/>
          <p:nvPr/>
        </p:nvSpPr>
        <p:spPr>
          <a:xfrm>
            <a:off x="566928" y="4023360"/>
            <a:ext cx="1700784" cy="640080"/>
          </a:xfrm>
          <a:prstGeom prst="rect">
            <a:avLst/>
          </a:prstGeom>
          <a:noFill/>
          <a:ln/>
        </p:spPr>
        <p:txBody>
          <a:bodyPr wrap="square" lIns="0" tIns="0" rIns="0" bIns="0" rtlCol="0" anchor="ctr"/>
          <a:lstStyle/>
          <a:p>
            <a:pPr algn="ctr" indent="0" marL="0">
              <a:buNone/>
            </a:pPr>
            <a:r>
              <a:rPr lang="en-US" sz="1200" b="1" dirty="0">
                <a:solidFill>
                  <a:schemeClr val="bg1"/>
                </a:solidFill>
              </a:rPr>
              <a:t>Third Normal Form (3NF)</a:t>
            </a:r>
            <a:endParaRPr lang="en-US" sz="1200" dirty="0"/>
          </a:p>
        </p:txBody>
      </p:sp>
      <p:sp>
        <p:nvSpPr>
          <p:cNvPr id="22" name="Chip 2"/>
          <p:cNvSpPr/>
          <p:nvPr/>
        </p:nvSpPr>
        <p:spPr>
          <a:xfrm>
            <a:off x="2560320" y="4023360"/>
            <a:ext cx="1920240" cy="640080"/>
          </a:xfrm>
          <a:prstGeom prst="roundRect">
            <a:avLst>
              <a:gd name="adj" fmla="val 11429"/>
            </a:avLst>
          </a:prstGeom>
          <a:solidFill>
            <a:schemeClr val="tx1"/>
          </a:solidFill>
          <a:ln w="12700">
            <a:solidFill>
              <a:schemeClr val="tx1"/>
            </a:solidFill>
            <a:prstDash val="solid"/>
          </a:ln>
        </p:spPr>
      </p:sp>
      <p:sp>
        <p:nvSpPr>
          <p:cNvPr id="23" name="Text 21"/>
          <p:cNvSpPr txBox="1"/>
          <p:nvPr/>
        </p:nvSpPr>
        <p:spPr>
          <a:xfrm>
            <a:off x="2670048" y="4023360"/>
            <a:ext cx="1700784" cy="640080"/>
          </a:xfrm>
          <a:prstGeom prst="rect">
            <a:avLst/>
          </a:prstGeom>
          <a:noFill/>
          <a:ln/>
        </p:spPr>
        <p:txBody>
          <a:bodyPr wrap="square" lIns="0" tIns="0" rIns="0" bIns="0" rtlCol="0" anchor="ctr"/>
          <a:lstStyle/>
          <a:p>
            <a:pPr algn="ctr" indent="0" marL="0">
              <a:buNone/>
            </a:pPr>
            <a:r>
              <a:rPr lang="en-US" sz="1200" b="1" dirty="0">
                <a:solidFill>
                  <a:schemeClr val="bg1"/>
                </a:solidFill>
              </a:rPr>
              <a:t>Foreign keys with ON DELETE CASCADE</a:t>
            </a:r>
            <a:endParaRPr lang="en-US" sz="1200" dirty="0"/>
          </a:p>
        </p:txBody>
      </p:sp>
      <p:sp>
        <p:nvSpPr>
          <p:cNvPr id="24" name="Chip 3"/>
          <p:cNvSpPr/>
          <p:nvPr/>
        </p:nvSpPr>
        <p:spPr>
          <a:xfrm>
            <a:off x="4663440" y="4023360"/>
            <a:ext cx="1920240" cy="640080"/>
          </a:xfrm>
          <a:prstGeom prst="roundRect">
            <a:avLst>
              <a:gd name="adj" fmla="val 11429"/>
            </a:avLst>
          </a:prstGeom>
          <a:solidFill>
            <a:schemeClr val="tx1"/>
          </a:solidFill>
          <a:ln w="12700">
            <a:solidFill>
              <a:schemeClr val="tx1"/>
            </a:solidFill>
            <a:prstDash val="solid"/>
          </a:ln>
        </p:spPr>
      </p:sp>
      <p:sp>
        <p:nvSpPr>
          <p:cNvPr id="25" name="Text 23"/>
          <p:cNvSpPr txBox="1"/>
          <p:nvPr/>
        </p:nvSpPr>
        <p:spPr>
          <a:xfrm>
            <a:off x="4773168" y="4023360"/>
            <a:ext cx="1700784" cy="640080"/>
          </a:xfrm>
          <a:prstGeom prst="rect">
            <a:avLst/>
          </a:prstGeom>
          <a:noFill/>
          <a:ln/>
        </p:spPr>
        <p:txBody>
          <a:bodyPr wrap="square" lIns="0" tIns="0" rIns="0" bIns="0" rtlCol="0" anchor="ctr"/>
          <a:lstStyle/>
          <a:p>
            <a:pPr algn="ctr" indent="0" marL="0">
              <a:buNone/>
            </a:pPr>
            <a:r>
              <a:rPr lang="en-US" sz="1200" b="1" dirty="0">
                <a:solidFill>
                  <a:schemeClr val="bg1"/>
                </a:solidFill>
              </a:rPr>
              <a:t>100% PreparedStatement queries</a:t>
            </a:r>
            <a:endParaRPr lang="en-US" sz="1200" dirty="0"/>
          </a:p>
        </p:txBody>
      </p:sp>
      <p:sp>
        <p:nvSpPr>
          <p:cNvPr id="26" name="Chip 4"/>
          <p:cNvSpPr/>
          <p:nvPr/>
        </p:nvSpPr>
        <p:spPr>
          <a:xfrm>
            <a:off x="6766560" y="4023360"/>
            <a:ext cx="1920240" cy="640080"/>
          </a:xfrm>
          <a:prstGeom prst="roundRect">
            <a:avLst>
              <a:gd name="adj" fmla="val 11429"/>
            </a:avLst>
          </a:prstGeom>
          <a:solidFill>
            <a:schemeClr val="tx1"/>
          </a:solidFill>
          <a:ln w="12700">
            <a:solidFill>
              <a:schemeClr val="tx1"/>
            </a:solidFill>
            <a:prstDash val="solid"/>
          </a:ln>
        </p:spPr>
      </p:sp>
      <p:sp>
        <p:nvSpPr>
          <p:cNvPr id="27" name="Text 25"/>
          <p:cNvSpPr txBox="1"/>
          <p:nvPr/>
        </p:nvSpPr>
        <p:spPr>
          <a:xfrm>
            <a:off x="6876288" y="4023360"/>
            <a:ext cx="1700784" cy="640080"/>
          </a:xfrm>
          <a:prstGeom prst="rect">
            <a:avLst/>
          </a:prstGeom>
          <a:noFill/>
          <a:ln/>
        </p:spPr>
        <p:txBody>
          <a:bodyPr wrap="square" lIns="0" tIns="0" rIns="0" bIns="0" rtlCol="0" anchor="ctr"/>
          <a:lstStyle/>
          <a:p>
            <a:pPr algn="ctr" indent="0" marL="0">
              <a:buNone/>
            </a:pPr>
            <a:r>
              <a:rPr lang="en-US" sz="1200" b="1" dirty="0">
                <a:solidFill>
                  <a:schemeClr val="bg1"/>
                </a:solidFill>
              </a:rPr>
              <a:t>Auto schema bootstrap + seed data</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Smart Matching Engine</a:t>
            </a:r>
            <a:endParaRPr lang="en-US" sz="3000" dirty="0"/>
          </a:p>
        </p:txBody>
      </p:sp>
      <p:sp>
        <p:nvSpPr>
          <p:cNvPr id="3" name="Rule card 1"/>
          <p:cNvSpPr/>
          <p:nvPr/>
        </p:nvSpPr>
        <p:spPr>
          <a:xfrm>
            <a:off x="457200" y="1143000"/>
            <a:ext cx="393192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Rule number 1"/>
          <p:cNvSpPr/>
          <p:nvPr/>
        </p:nvSpPr>
        <p:spPr>
          <a:xfrm>
            <a:off x="640080" y="1389888"/>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640080" y="13898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280160" y="1234440"/>
            <a:ext cx="2971800" cy="777240"/>
          </a:xfrm>
          <a:prstGeom prst="rect">
            <a:avLst/>
          </a:prstGeom>
          <a:noFill/>
          <a:ln/>
        </p:spPr>
        <p:txBody>
          <a:bodyPr wrap="square" lIns="0" tIns="0" rIns="0" bIns="0" rtlCol="0" anchor="ctr"/>
          <a:lstStyle/>
          <a:p>
            <a:pPr algn="l" indent="0" marL="0">
              <a:buNone/>
            </a:pPr>
            <a:r>
              <a:rPr lang="en-US" sz="1500" b="1" dirty="0">
                <a:solidFill>
                  <a:schemeClr val="tx1"/>
                </a:solidFill>
              </a:rPr>
              <a:t>Category must match</a:t>
            </a:r>
            <a:endParaRPr lang="en-US" sz="1500" dirty="0"/>
          </a:p>
          <a:p>
            <a:pPr algn="l" indent="0" marL="0">
              <a:buNone/>
            </a:pPr>
            <a:r>
              <a:rPr lang="en-US" sz="1200" dirty="0">
                <a:solidFill>
                  <a:schemeClr val="tx2"/>
                </a:solidFill>
              </a:rPr>
              <a:t>Compared case-insensitively, e.g. Electronics = electronics</a:t>
            </a:r>
            <a:endParaRPr lang="en-US" sz="1500" dirty="0"/>
          </a:p>
        </p:txBody>
      </p:sp>
      <p:sp>
        <p:nvSpPr>
          <p:cNvPr id="7" name="Rule card 2"/>
          <p:cNvSpPr/>
          <p:nvPr/>
        </p:nvSpPr>
        <p:spPr>
          <a:xfrm>
            <a:off x="457200" y="2240280"/>
            <a:ext cx="393192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Rule number 2"/>
          <p:cNvSpPr/>
          <p:nvPr/>
        </p:nvSpPr>
        <p:spPr>
          <a:xfrm>
            <a:off x="640080" y="2487168"/>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640080" y="24871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280160" y="2331720"/>
            <a:ext cx="2971800" cy="777240"/>
          </a:xfrm>
          <a:prstGeom prst="rect">
            <a:avLst/>
          </a:prstGeom>
          <a:noFill/>
          <a:ln/>
        </p:spPr>
        <p:txBody>
          <a:bodyPr wrap="square" lIns="0" tIns="0" rIns="0" bIns="0" rtlCol="0" anchor="ctr"/>
          <a:lstStyle/>
          <a:p>
            <a:pPr algn="l" indent="0" marL="0">
              <a:buNone/>
            </a:pPr>
            <a:r>
              <a:rPr lang="en-US" sz="1500" b="1" dirty="0">
                <a:solidFill>
                  <a:schemeClr val="tx1"/>
                </a:solidFill>
              </a:rPr>
              <a:t>Title overlap</a:t>
            </a:r>
            <a:endParaRPr lang="en-US" sz="1500" dirty="0"/>
          </a:p>
          <a:p>
            <a:pPr algn="l" indent="0" marL="0">
              <a:buNone/>
            </a:pPr>
            <a:r>
              <a:rPr lang="en-US" sz="1200" dirty="0">
                <a:solidFill>
                  <a:schemeClr val="tx2"/>
                </a:solidFill>
              </a:rPr>
              <a:t>One title contains the other, or any word of 3+ letters is shared</a:t>
            </a:r>
            <a:endParaRPr lang="en-US" sz="1500" dirty="0"/>
          </a:p>
        </p:txBody>
      </p:sp>
      <p:sp>
        <p:nvSpPr>
          <p:cNvPr id="11" name="Rule card 3"/>
          <p:cNvSpPr/>
          <p:nvPr/>
        </p:nvSpPr>
        <p:spPr>
          <a:xfrm>
            <a:off x="457200" y="3337560"/>
            <a:ext cx="3931920" cy="960120"/>
          </a:xfrm>
          <a:prstGeom prst="roundRect">
            <a:avLst>
              <a:gd name="adj" fmla="val 7619"/>
            </a:avLst>
          </a:prstGeom>
          <a:solidFill>
            <a:schemeClr val="tx1"/>
          </a:solidFill>
          <a:ln w="12700">
            <a:solidFill>
              <a:schemeClr val="tx1"/>
            </a:solidFill>
            <a:prstDash val="solid"/>
          </a:ln>
        </p:spPr>
      </p:sp>
      <p:sp>
        <p:nvSpPr>
          <p:cNvPr id="12" name="Rule number 3"/>
          <p:cNvSpPr/>
          <p:nvPr/>
        </p:nvSpPr>
        <p:spPr>
          <a:xfrm>
            <a:off x="640080" y="3584448"/>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640080" y="358444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14" name="Text 12"/>
          <p:cNvSpPr txBox="1"/>
          <p:nvPr/>
        </p:nvSpPr>
        <p:spPr>
          <a:xfrm>
            <a:off x="1280160" y="3429000"/>
            <a:ext cx="2971800" cy="777240"/>
          </a:xfrm>
          <a:prstGeom prst="rect">
            <a:avLst/>
          </a:prstGeom>
          <a:noFill/>
          <a:ln/>
        </p:spPr>
        <p:txBody>
          <a:bodyPr wrap="square" lIns="0" tIns="0" rIns="0" bIns="0" rtlCol="0" anchor="ctr"/>
          <a:lstStyle/>
          <a:p>
            <a:pPr algn="l" indent="0" marL="0">
              <a:buNone/>
            </a:pPr>
            <a:r>
              <a:rPr lang="en-US" sz="1500" b="1" dirty="0">
                <a:solidFill>
                  <a:schemeClr val="bg1"/>
                </a:solidFill>
              </a:rPr>
              <a:t>Result label</a:t>
            </a:r>
            <a:endParaRPr lang="en-US" sz="1500" dirty="0"/>
          </a:p>
          <a:p>
            <a:pPr algn="l" indent="0" marL="0">
              <a:buNone/>
            </a:pPr>
            <a:r>
              <a:rPr lang="en-US" sz="1200" dirty="0">
                <a:solidFill>
                  <a:schemeClr val="bg2"/>
                </a:solidFill>
              </a:rPr>
              <a:t>"Possible Match Found" or "No Match Found" shown in the dashboard</a:t>
            </a:r>
            <a:endParaRPr lang="en-US" sz="1500" dirty="0"/>
          </a:p>
        </p:txBody>
      </p:sp>
      <p:sp>
        <p:nvSpPr>
          <p:cNvPr id="15" name="Text 13"/>
          <p:cNvSpPr txBox="1"/>
          <p:nvPr/>
        </p:nvSpPr>
        <p:spPr>
          <a:xfrm>
            <a:off x="4663440" y="1143000"/>
            <a:ext cx="4023360" cy="274320"/>
          </a:xfrm>
          <a:prstGeom prst="rect">
            <a:avLst/>
          </a:prstGeom>
          <a:noFill/>
          <a:ln/>
        </p:spPr>
        <p:txBody>
          <a:bodyPr wrap="square" lIns="0" tIns="0" rIns="0" bIns="0" rtlCol="0" anchor="t"/>
          <a:lstStyle/>
          <a:p>
            <a:pPr algn="l" indent="0" marL="0">
              <a:buNone/>
            </a:pPr>
            <a:r>
              <a:rPr lang="en-US" sz="1100" b="1" dirty="0">
                <a:solidFill>
                  <a:schemeClr val="accent2"/>
                </a:solidFill>
              </a:rPr>
              <a:t>WORKED EXAMPLES (ILLUSTRATIVE)</a:t>
            </a:r>
            <a:endParaRPr lang="en-US" sz="1100" dirty="0"/>
          </a:p>
        </p:txBody>
      </p:sp>
      <p:sp>
        <p:nvSpPr>
          <p:cNvPr id="16" name="Example card 1"/>
          <p:cNvSpPr/>
          <p:nvPr/>
        </p:nvSpPr>
        <p:spPr>
          <a:xfrm>
            <a:off x="4663440" y="1508760"/>
            <a:ext cx="40233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4800600" y="1600200"/>
            <a:ext cx="2697480" cy="777240"/>
          </a:xfrm>
          <a:prstGeom prst="rect">
            <a:avLst/>
          </a:prstGeom>
          <a:noFill/>
          <a:ln/>
        </p:spPr>
        <p:txBody>
          <a:bodyPr wrap="square" lIns="0" tIns="0" rIns="0" bIns="0" rtlCol="0" anchor="ctr"/>
          <a:lstStyle/>
          <a:p>
            <a:pPr algn="l" indent="0" marL="0">
              <a:buNone/>
            </a:pPr>
            <a:r>
              <a:rPr lang="en-US" sz="1200" b="1" dirty="0">
                <a:solidFill>
                  <a:schemeClr val="tx1"/>
                </a:solidFill>
              </a:rPr>
              <a:t>Lost: Black Wallet  (Accessories)</a:t>
            </a:r>
            <a:endParaRPr lang="en-US" sz="1200" dirty="0"/>
          </a:p>
          <a:p>
            <a:pPr algn="l" indent="0" marL="0">
              <a:buNone/>
            </a:pPr>
            <a:r>
              <a:rPr lang="en-US" sz="1200" b="1" dirty="0">
                <a:solidFill>
                  <a:schemeClr val="tx1"/>
                </a:solidFill>
              </a:rPr>
              <a:t>Found: Wallet  (Accessories)</a:t>
            </a:r>
            <a:endParaRPr lang="en-US" sz="1200" dirty="0"/>
          </a:p>
          <a:p>
            <a:pPr algn="l" indent="0" marL="0">
              <a:buNone/>
            </a:pPr>
            <a:r>
              <a:rPr lang="en-US" sz="1100" i="1" dirty="0">
                <a:solidFill>
                  <a:schemeClr val="tx2"/>
                </a:solidFill>
              </a:rPr>
              <a:t>Title contains "wallet"</a:t>
            </a:r>
            <a:endParaRPr lang="en-US" sz="1200" dirty="0"/>
          </a:p>
        </p:txBody>
      </p:sp>
      <p:sp>
        <p:nvSpPr>
          <p:cNvPr id="18" name="Verdict chip 1"/>
          <p:cNvSpPr/>
          <p:nvPr/>
        </p:nvSpPr>
        <p:spPr>
          <a:xfrm>
            <a:off x="7589520" y="1783080"/>
            <a:ext cx="960120" cy="411480"/>
          </a:xfrm>
          <a:prstGeom prst="roundRect">
            <a:avLst>
              <a:gd name="adj" fmla="val 17778"/>
            </a:avLst>
          </a:prstGeom>
          <a:solidFill>
            <a:schemeClr val="accent3"/>
          </a:solidFill>
          <a:ln w="12700">
            <a:solidFill>
              <a:schemeClr val="accent3"/>
            </a:solidFill>
            <a:prstDash val="solid"/>
          </a:ln>
        </p:spPr>
      </p:sp>
      <p:sp>
        <p:nvSpPr>
          <p:cNvPr id="19" name="Text 17"/>
          <p:cNvSpPr txBox="1"/>
          <p:nvPr/>
        </p:nvSpPr>
        <p:spPr>
          <a:xfrm>
            <a:off x="7589520" y="1783080"/>
            <a:ext cx="960120" cy="411480"/>
          </a:xfrm>
          <a:prstGeom prst="rect">
            <a:avLst/>
          </a:prstGeom>
          <a:noFill/>
          <a:ln/>
        </p:spPr>
        <p:txBody>
          <a:bodyPr wrap="square" lIns="0" tIns="0" rIns="0" bIns="0" rtlCol="0" anchor="ctr"/>
          <a:lstStyle/>
          <a:p>
            <a:pPr algn="ctr" indent="0" marL="0">
              <a:buNone/>
            </a:pPr>
            <a:r>
              <a:rPr lang="en-US" sz="1100" b="1" dirty="0">
                <a:solidFill>
                  <a:schemeClr val="tx1"/>
                </a:solidFill>
              </a:rPr>
              <a:t>MATCH</a:t>
            </a:r>
            <a:endParaRPr lang="en-US" sz="1100" dirty="0"/>
          </a:p>
        </p:txBody>
      </p:sp>
      <p:sp>
        <p:nvSpPr>
          <p:cNvPr id="20" name="Example card 2"/>
          <p:cNvSpPr/>
          <p:nvPr/>
        </p:nvSpPr>
        <p:spPr>
          <a:xfrm>
            <a:off x="4663440" y="2606040"/>
            <a:ext cx="40233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1" name="Text 19"/>
          <p:cNvSpPr txBox="1"/>
          <p:nvPr/>
        </p:nvSpPr>
        <p:spPr>
          <a:xfrm>
            <a:off x="4800600" y="2697480"/>
            <a:ext cx="2697480" cy="777240"/>
          </a:xfrm>
          <a:prstGeom prst="rect">
            <a:avLst/>
          </a:prstGeom>
          <a:noFill/>
          <a:ln/>
        </p:spPr>
        <p:txBody>
          <a:bodyPr wrap="square" lIns="0" tIns="0" rIns="0" bIns="0" rtlCol="0" anchor="ctr"/>
          <a:lstStyle/>
          <a:p>
            <a:pPr algn="l" indent="0" marL="0">
              <a:buNone/>
            </a:pPr>
            <a:r>
              <a:rPr lang="en-US" sz="1200" b="1" dirty="0">
                <a:solidFill>
                  <a:schemeClr val="tx1"/>
                </a:solidFill>
              </a:rPr>
              <a:t>Lost: Blue Calculator  (Electronics)</a:t>
            </a:r>
            <a:endParaRPr lang="en-US" sz="1200" dirty="0"/>
          </a:p>
          <a:p>
            <a:pPr algn="l" indent="0" marL="0">
              <a:buNone/>
            </a:pPr>
            <a:r>
              <a:rPr lang="en-US" sz="1200" b="1" dirty="0">
                <a:solidFill>
                  <a:schemeClr val="tx1"/>
                </a:solidFill>
              </a:rPr>
              <a:t>Found: Calculator Casio  (Electronics)</a:t>
            </a:r>
            <a:endParaRPr lang="en-US" sz="1200" dirty="0"/>
          </a:p>
          <a:p>
            <a:pPr algn="l" indent="0" marL="0">
              <a:buNone/>
            </a:pPr>
            <a:r>
              <a:rPr lang="en-US" sz="1100" i="1" dirty="0">
                <a:solidFill>
                  <a:schemeClr val="tx2"/>
                </a:solidFill>
              </a:rPr>
              <a:t>Shared keyword "calculator"</a:t>
            </a:r>
            <a:endParaRPr lang="en-US" sz="1200" dirty="0"/>
          </a:p>
        </p:txBody>
      </p:sp>
      <p:sp>
        <p:nvSpPr>
          <p:cNvPr id="22" name="Verdict chip 2"/>
          <p:cNvSpPr/>
          <p:nvPr/>
        </p:nvSpPr>
        <p:spPr>
          <a:xfrm>
            <a:off x="7589520" y="2880360"/>
            <a:ext cx="960120" cy="411480"/>
          </a:xfrm>
          <a:prstGeom prst="roundRect">
            <a:avLst>
              <a:gd name="adj" fmla="val 17778"/>
            </a:avLst>
          </a:prstGeom>
          <a:solidFill>
            <a:schemeClr val="accent3"/>
          </a:solidFill>
          <a:ln w="12700">
            <a:solidFill>
              <a:schemeClr val="accent3"/>
            </a:solidFill>
            <a:prstDash val="solid"/>
          </a:ln>
        </p:spPr>
      </p:sp>
      <p:sp>
        <p:nvSpPr>
          <p:cNvPr id="23" name="Text 21"/>
          <p:cNvSpPr txBox="1"/>
          <p:nvPr/>
        </p:nvSpPr>
        <p:spPr>
          <a:xfrm>
            <a:off x="7589520" y="2880360"/>
            <a:ext cx="960120" cy="411480"/>
          </a:xfrm>
          <a:prstGeom prst="rect">
            <a:avLst/>
          </a:prstGeom>
          <a:noFill/>
          <a:ln/>
        </p:spPr>
        <p:txBody>
          <a:bodyPr wrap="square" lIns="0" tIns="0" rIns="0" bIns="0" rtlCol="0" anchor="ctr"/>
          <a:lstStyle/>
          <a:p>
            <a:pPr algn="ctr" indent="0" marL="0">
              <a:buNone/>
            </a:pPr>
            <a:r>
              <a:rPr lang="en-US" sz="1100" b="1" dirty="0">
                <a:solidFill>
                  <a:schemeClr val="tx1"/>
                </a:solidFill>
              </a:rPr>
              <a:t>MATCH</a:t>
            </a:r>
            <a:endParaRPr lang="en-US" sz="1100" dirty="0"/>
          </a:p>
        </p:txBody>
      </p:sp>
      <p:sp>
        <p:nvSpPr>
          <p:cNvPr id="24" name="Example card 3"/>
          <p:cNvSpPr/>
          <p:nvPr/>
        </p:nvSpPr>
        <p:spPr>
          <a:xfrm>
            <a:off x="4663440" y="3703320"/>
            <a:ext cx="402336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Text 23"/>
          <p:cNvSpPr txBox="1"/>
          <p:nvPr/>
        </p:nvSpPr>
        <p:spPr>
          <a:xfrm>
            <a:off x="4800600" y="3794760"/>
            <a:ext cx="2697480" cy="777240"/>
          </a:xfrm>
          <a:prstGeom prst="rect">
            <a:avLst/>
          </a:prstGeom>
          <a:noFill/>
          <a:ln/>
        </p:spPr>
        <p:txBody>
          <a:bodyPr wrap="square" lIns="0" tIns="0" rIns="0" bIns="0" rtlCol="0" anchor="ctr"/>
          <a:lstStyle/>
          <a:p>
            <a:pPr algn="l" indent="0" marL="0">
              <a:buNone/>
            </a:pPr>
            <a:r>
              <a:rPr lang="en-US" sz="1200" b="1" dirty="0">
                <a:solidFill>
                  <a:schemeClr val="tx1"/>
                </a:solidFill>
              </a:rPr>
              <a:t>Lost: ID Card  (Documents)</a:t>
            </a:r>
            <a:endParaRPr lang="en-US" sz="1200" dirty="0"/>
          </a:p>
          <a:p>
            <a:pPr algn="l" indent="0" marL="0">
              <a:buNone/>
            </a:pPr>
            <a:r>
              <a:rPr lang="en-US" sz="1200" b="1" dirty="0">
                <a:solidFill>
                  <a:schemeClr val="tx1"/>
                </a:solidFill>
              </a:rPr>
              <a:t>Found: Black Wallet  (Accessories)</a:t>
            </a:r>
            <a:endParaRPr lang="en-US" sz="1200" dirty="0"/>
          </a:p>
          <a:p>
            <a:pPr algn="l" indent="0" marL="0">
              <a:buNone/>
            </a:pPr>
            <a:r>
              <a:rPr lang="en-US" sz="1100" i="1" dirty="0">
                <a:solidFill>
                  <a:schemeClr val="tx2"/>
                </a:solidFill>
              </a:rPr>
              <a:t>Categories differ</a:t>
            </a:r>
            <a:endParaRPr lang="en-US" sz="1200" dirty="0"/>
          </a:p>
        </p:txBody>
      </p:sp>
      <p:sp>
        <p:nvSpPr>
          <p:cNvPr id="26" name="Verdict chip 3"/>
          <p:cNvSpPr/>
          <p:nvPr/>
        </p:nvSpPr>
        <p:spPr>
          <a:xfrm>
            <a:off x="7589520" y="3977640"/>
            <a:ext cx="960120" cy="411480"/>
          </a:xfrm>
          <a:prstGeom prst="roundRect">
            <a:avLst>
              <a:gd name="adj" fmla="val 17778"/>
            </a:avLst>
          </a:prstGeom>
          <a:solidFill>
            <a:schemeClr val="accent5"/>
          </a:solidFill>
          <a:ln w="12700">
            <a:solidFill>
              <a:schemeClr val="accent5"/>
            </a:solidFill>
            <a:prstDash val="solid"/>
          </a:ln>
        </p:spPr>
      </p:sp>
      <p:sp>
        <p:nvSpPr>
          <p:cNvPr id="27" name="Text 25"/>
          <p:cNvSpPr txBox="1"/>
          <p:nvPr/>
        </p:nvSpPr>
        <p:spPr>
          <a:xfrm>
            <a:off x="7589520" y="3977640"/>
            <a:ext cx="960120" cy="411480"/>
          </a:xfrm>
          <a:prstGeom prst="rect">
            <a:avLst/>
          </a:prstGeom>
          <a:noFill/>
          <a:ln/>
        </p:spPr>
        <p:txBody>
          <a:bodyPr wrap="square" lIns="0" tIns="0" rIns="0" bIns="0" rtlCol="0" anchor="ctr"/>
          <a:lstStyle/>
          <a:p>
            <a:pPr algn="ctr" indent="0" marL="0">
              <a:buNone/>
            </a:pPr>
            <a:r>
              <a:rPr lang="en-US" sz="1100" b="1" dirty="0">
                <a:solidFill>
                  <a:schemeClr val="bg1"/>
                </a:solidFill>
              </a:rPr>
              <a:t>NO MATCH</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Testing &amp; Project Deliverables</a:t>
            </a:r>
            <a:endParaRPr lang="en-US" sz="3000" dirty="0"/>
          </a:p>
        </p:txBody>
      </p:sp>
      <p:sp>
        <p:nvSpPr>
          <p:cNvPr id="3" name="Test score card"/>
          <p:cNvSpPr/>
          <p:nvPr/>
        </p:nvSpPr>
        <p:spPr>
          <a:xfrm>
            <a:off x="457200" y="1143000"/>
            <a:ext cx="3017520" cy="3520440"/>
          </a:xfrm>
          <a:prstGeom prst="roundRect">
            <a:avLst>
              <a:gd name="adj" fmla="val 2424"/>
            </a:avLst>
          </a:prstGeom>
          <a:solidFill>
            <a:schemeClr val="tx1"/>
          </a:solidFill>
          <a:ln w="12700">
            <a:solidFill>
              <a:schemeClr val="tx1"/>
            </a:solidFill>
            <a:prstDash val="solid"/>
          </a:ln>
        </p:spPr>
      </p:sp>
      <p:sp>
        <p:nvSpPr>
          <p:cNvPr id="4" name="Text 2"/>
          <p:cNvSpPr txBox="1"/>
          <p:nvPr/>
        </p:nvSpPr>
        <p:spPr>
          <a:xfrm>
            <a:off x="640080" y="1371600"/>
            <a:ext cx="2651760" cy="914400"/>
          </a:xfrm>
          <a:prstGeom prst="rect">
            <a:avLst/>
          </a:prstGeom>
          <a:noFill/>
          <a:ln/>
        </p:spPr>
        <p:txBody>
          <a:bodyPr wrap="square" lIns="0" tIns="0" rIns="0" bIns="0" rtlCol="0" anchor="ctr"/>
          <a:lstStyle/>
          <a:p>
            <a:pPr algn="l" indent="0" marL="0">
              <a:buNone/>
            </a:pPr>
            <a:r>
              <a:rPr lang="en-US" sz="5400" b="1" dirty="0">
                <a:solidFill>
                  <a:schemeClr val="accent1"/>
                </a:solidFill>
              </a:rPr>
              <a:t>35/35</a:t>
            </a:r>
            <a:endParaRPr lang="en-US" sz="5400" dirty="0"/>
          </a:p>
        </p:txBody>
      </p:sp>
      <p:sp>
        <p:nvSpPr>
          <p:cNvPr id="5" name="Text 3"/>
          <p:cNvSpPr txBox="1"/>
          <p:nvPr/>
        </p:nvSpPr>
        <p:spPr>
          <a:xfrm>
            <a:off x="640080" y="2331720"/>
            <a:ext cx="2651760" cy="320040"/>
          </a:xfrm>
          <a:prstGeom prst="rect">
            <a:avLst/>
          </a:prstGeom>
          <a:noFill/>
          <a:ln/>
        </p:spPr>
        <p:txBody>
          <a:bodyPr wrap="square" lIns="0" tIns="0" rIns="0" bIns="0" rtlCol="0" anchor="t"/>
          <a:lstStyle/>
          <a:p>
            <a:pPr algn="l" indent="0" marL="0">
              <a:buNone/>
            </a:pPr>
            <a:r>
              <a:rPr lang="en-US" sz="1500" b="1" dirty="0">
                <a:solidFill>
                  <a:schemeClr val="bg1"/>
                </a:solidFill>
              </a:rPr>
              <a:t>formal test cases passed</a:t>
            </a:r>
            <a:endParaRPr lang="en-US" sz="1500" dirty="0"/>
          </a:p>
        </p:txBody>
      </p:sp>
      <p:sp>
        <p:nvSpPr>
          <p:cNvPr id="6" name="Text 4"/>
          <p:cNvSpPr txBox="1"/>
          <p:nvPr/>
        </p:nvSpPr>
        <p:spPr>
          <a:xfrm>
            <a:off x="640080" y="2697480"/>
            <a:ext cx="2651760" cy="274320"/>
          </a:xfrm>
          <a:prstGeom prst="rect">
            <a:avLst/>
          </a:prstGeom>
          <a:noFill/>
          <a:ln/>
        </p:spPr>
        <p:txBody>
          <a:bodyPr wrap="square" lIns="0" tIns="0" rIns="0" bIns="0" rtlCol="0" anchor="t"/>
          <a:lstStyle/>
          <a:p>
            <a:pPr algn="l" indent="0" marL="0">
              <a:buNone/>
            </a:pPr>
            <a:r>
              <a:rPr lang="en-US" sz="1300" dirty="0">
                <a:solidFill>
                  <a:schemeClr val="accent6"/>
                </a:solidFill>
              </a:rPr>
              <a:t>0 defects reported</a:t>
            </a:r>
            <a:endParaRPr lang="en-US" sz="1300" dirty="0"/>
          </a:p>
        </p:txBody>
      </p:sp>
      <p:sp>
        <p:nvSpPr>
          <p:cNvPr id="7" name="Text 5"/>
          <p:cNvSpPr txBox="1"/>
          <p:nvPr/>
        </p:nvSpPr>
        <p:spPr>
          <a:xfrm>
            <a:off x="640080" y="3246120"/>
            <a:ext cx="2651760" cy="1188720"/>
          </a:xfrm>
          <a:prstGeom prst="rect">
            <a:avLst/>
          </a:prstGeom>
          <a:noFill/>
          <a:ln/>
        </p:spPr>
        <p:txBody>
          <a:bodyPr wrap="square" lIns="0" tIns="0" rIns="0" bIns="0" rtlCol="0" anchor="t"/>
          <a:lstStyle/>
          <a:p>
            <a:pPr algn="l" indent="0" marL="0">
              <a:buNone/>
            </a:pPr>
            <a:r>
              <a:rPr lang="en-US" sz="1200" dirty="0">
                <a:solidFill>
                  <a:schemeClr val="bg2"/>
                </a:solidFill>
              </a:rPr>
              <a:t>Coverage: login and roles, validation, reporting, matching, claims, SQL injection, DB cleanup, network recovery</a:t>
            </a:r>
            <a:endParaRPr lang="en-US" sz="1200" dirty="0"/>
          </a:p>
        </p:txBody>
      </p:sp>
      <p:sp>
        <p:nvSpPr>
          <p:cNvPr id="8" name="Text 6"/>
          <p:cNvSpPr txBox="1"/>
          <p:nvPr/>
        </p:nvSpPr>
        <p:spPr>
          <a:xfrm>
            <a:off x="3703320" y="1143000"/>
            <a:ext cx="4937760" cy="228600"/>
          </a:xfrm>
          <a:prstGeom prst="rect">
            <a:avLst/>
          </a:prstGeom>
          <a:noFill/>
          <a:ln/>
        </p:spPr>
        <p:txBody>
          <a:bodyPr wrap="square" lIns="0" tIns="0" rIns="0" bIns="0" rtlCol="0" anchor="t"/>
          <a:lstStyle/>
          <a:p>
            <a:pPr algn="l" indent="0" marL="0">
              <a:buNone/>
            </a:pPr>
            <a:r>
              <a:rPr lang="en-US" sz="1100" b="1" dirty="0">
                <a:solidFill>
                  <a:schemeClr val="accent2"/>
                </a:solidFill>
              </a:rPr>
              <a:t>REPRESENTATIVE TEST CASES</a:t>
            </a:r>
            <a:endParaRPr lang="en-US" sz="1100" dirty="0"/>
          </a:p>
        </p:txBody>
      </p:sp>
      <p:sp>
        <p:nvSpPr>
          <p:cNvPr id="9" name="Test row 1"/>
          <p:cNvSpPr/>
          <p:nvPr/>
        </p:nvSpPr>
        <p:spPr>
          <a:xfrm>
            <a:off x="3703320" y="1444752"/>
            <a:ext cx="4983480" cy="310896"/>
          </a:xfrm>
          <a:prstGeom prst="roundRect">
            <a:avLst>
              <a:gd name="adj" fmla="val 23529"/>
            </a:avLst>
          </a:prstGeom>
          <a:solidFill>
            <a:schemeClr val="bg2"/>
          </a:solidFill>
          <a:ln w="12700">
            <a:solidFill>
              <a:schemeClr val="bg2"/>
            </a:solidFill>
            <a:prstDash val="solid"/>
          </a:ln>
        </p:spPr>
      </p:sp>
      <p:sp>
        <p:nvSpPr>
          <p:cNvPr id="10" name="Text 8"/>
          <p:cNvSpPr txBox="1"/>
          <p:nvPr/>
        </p:nvSpPr>
        <p:spPr>
          <a:xfrm>
            <a:off x="3822192" y="1444752"/>
            <a:ext cx="594360" cy="310896"/>
          </a:xfrm>
          <a:prstGeom prst="rect">
            <a:avLst/>
          </a:prstGeom>
          <a:noFill/>
          <a:ln/>
        </p:spPr>
        <p:txBody>
          <a:bodyPr wrap="square" lIns="0" tIns="0" rIns="0" bIns="0" rtlCol="0" anchor="ctr"/>
          <a:lstStyle/>
          <a:p>
            <a:pPr algn="l" indent="0" marL="0">
              <a:buNone/>
            </a:pPr>
            <a:r>
              <a:rPr lang="en-US" sz="1200" b="1" dirty="0">
                <a:solidFill>
                  <a:schemeClr val="accent2"/>
                </a:solidFill>
              </a:rPr>
              <a:t>TC-03</a:t>
            </a:r>
            <a:endParaRPr lang="en-US" sz="1200" dirty="0"/>
          </a:p>
        </p:txBody>
      </p:sp>
      <p:sp>
        <p:nvSpPr>
          <p:cNvPr id="11" name="Text 9"/>
          <p:cNvSpPr txBox="1"/>
          <p:nvPr/>
        </p:nvSpPr>
        <p:spPr>
          <a:xfrm>
            <a:off x="4480560" y="1444752"/>
            <a:ext cx="3291840" cy="310896"/>
          </a:xfrm>
          <a:prstGeom prst="rect">
            <a:avLst/>
          </a:prstGeom>
          <a:noFill/>
          <a:ln/>
        </p:spPr>
        <p:txBody>
          <a:bodyPr wrap="square" lIns="0" tIns="0" rIns="0" bIns="0" rtlCol="0" anchor="ctr"/>
          <a:lstStyle/>
          <a:p>
            <a:pPr algn="l" indent="0" marL="0">
              <a:buNone/>
            </a:pPr>
            <a:r>
              <a:rPr lang="en-US" sz="1200" dirty="0">
                <a:solidFill>
                  <a:schemeClr val="tx1"/>
                </a:solidFill>
              </a:rPr>
              <a:t>Admin login opens admin dashboard</a:t>
            </a:r>
            <a:endParaRPr lang="en-US" sz="1200" dirty="0"/>
          </a:p>
        </p:txBody>
      </p:sp>
      <p:sp>
        <p:nvSpPr>
          <p:cNvPr id="12" name="Pass chip 1"/>
          <p:cNvSpPr/>
          <p:nvPr/>
        </p:nvSpPr>
        <p:spPr>
          <a:xfrm>
            <a:off x="8001000" y="1481328"/>
            <a:ext cx="594360" cy="237744"/>
          </a:xfrm>
          <a:prstGeom prst="roundRect">
            <a:avLst>
              <a:gd name="adj" fmla="val 30769"/>
            </a:avLst>
          </a:prstGeom>
          <a:solidFill>
            <a:schemeClr val="accent3"/>
          </a:solidFill>
          <a:ln w="12700">
            <a:solidFill>
              <a:schemeClr val="accent3"/>
            </a:solidFill>
            <a:prstDash val="solid"/>
          </a:ln>
        </p:spPr>
      </p:sp>
      <p:sp>
        <p:nvSpPr>
          <p:cNvPr id="13" name="Text 11"/>
          <p:cNvSpPr txBox="1"/>
          <p:nvPr/>
        </p:nvSpPr>
        <p:spPr>
          <a:xfrm>
            <a:off x="8001000" y="1481328"/>
            <a:ext cx="594360" cy="237744"/>
          </a:xfrm>
          <a:prstGeom prst="rect">
            <a:avLst/>
          </a:prstGeom>
          <a:noFill/>
          <a:ln/>
        </p:spPr>
        <p:txBody>
          <a:bodyPr wrap="square" lIns="0" tIns="0" rIns="0" bIns="0" rtlCol="0" anchor="ctr"/>
          <a:lstStyle/>
          <a:p>
            <a:pPr algn="ctr" indent="0" marL="0">
              <a:buNone/>
            </a:pPr>
            <a:r>
              <a:rPr lang="en-US" sz="1000" b="1" dirty="0">
                <a:solidFill>
                  <a:schemeClr val="tx1"/>
                </a:solidFill>
              </a:rPr>
              <a:t>PASS</a:t>
            </a:r>
            <a:endParaRPr lang="en-US" sz="1000" dirty="0"/>
          </a:p>
        </p:txBody>
      </p:sp>
      <p:sp>
        <p:nvSpPr>
          <p:cNvPr id="14" name="Test row 2"/>
          <p:cNvSpPr/>
          <p:nvPr/>
        </p:nvSpPr>
        <p:spPr>
          <a:xfrm>
            <a:off x="3703320" y="1810512"/>
            <a:ext cx="4983480" cy="310896"/>
          </a:xfrm>
          <a:prstGeom prst="roundRect">
            <a:avLst>
              <a:gd name="adj" fmla="val 23529"/>
            </a:avLst>
          </a:prstGeom>
          <a:solidFill>
            <a:schemeClr val="bg2"/>
          </a:solidFill>
          <a:ln w="12700">
            <a:solidFill>
              <a:schemeClr val="bg2"/>
            </a:solidFill>
            <a:prstDash val="solid"/>
          </a:ln>
        </p:spPr>
      </p:sp>
      <p:sp>
        <p:nvSpPr>
          <p:cNvPr id="15" name="Text 13"/>
          <p:cNvSpPr txBox="1"/>
          <p:nvPr/>
        </p:nvSpPr>
        <p:spPr>
          <a:xfrm>
            <a:off x="3822192" y="1810512"/>
            <a:ext cx="594360" cy="310896"/>
          </a:xfrm>
          <a:prstGeom prst="rect">
            <a:avLst/>
          </a:prstGeom>
          <a:noFill/>
          <a:ln/>
        </p:spPr>
        <p:txBody>
          <a:bodyPr wrap="square" lIns="0" tIns="0" rIns="0" bIns="0" rtlCol="0" anchor="ctr"/>
          <a:lstStyle/>
          <a:p>
            <a:pPr algn="l" indent="0" marL="0">
              <a:buNone/>
            </a:pPr>
            <a:r>
              <a:rPr lang="en-US" sz="1200" b="1" dirty="0">
                <a:solidFill>
                  <a:schemeClr val="accent2"/>
                </a:solidFill>
              </a:rPr>
              <a:t>TC-06</a:t>
            </a:r>
            <a:endParaRPr lang="en-US" sz="1200" dirty="0"/>
          </a:p>
        </p:txBody>
      </p:sp>
      <p:sp>
        <p:nvSpPr>
          <p:cNvPr id="16" name="Text 14"/>
          <p:cNvSpPr txBox="1"/>
          <p:nvPr/>
        </p:nvSpPr>
        <p:spPr>
          <a:xfrm>
            <a:off x="4480560" y="1810512"/>
            <a:ext cx="3291840" cy="310896"/>
          </a:xfrm>
          <a:prstGeom prst="rect">
            <a:avLst/>
          </a:prstGeom>
          <a:noFill/>
          <a:ln/>
        </p:spPr>
        <p:txBody>
          <a:bodyPr wrap="square" lIns="0" tIns="0" rIns="0" bIns="0" rtlCol="0" anchor="ctr"/>
          <a:lstStyle/>
          <a:p>
            <a:pPr algn="l" indent="0" marL="0">
              <a:buNone/>
            </a:pPr>
            <a:r>
              <a:rPr lang="en-US" sz="1200" dirty="0">
                <a:solidFill>
                  <a:schemeClr val="tx1"/>
                </a:solidFill>
              </a:rPr>
              <a:t>Duplicate email registration rejected</a:t>
            </a:r>
            <a:endParaRPr lang="en-US" sz="1200" dirty="0"/>
          </a:p>
        </p:txBody>
      </p:sp>
      <p:sp>
        <p:nvSpPr>
          <p:cNvPr id="17" name="Pass chip 2"/>
          <p:cNvSpPr/>
          <p:nvPr/>
        </p:nvSpPr>
        <p:spPr>
          <a:xfrm>
            <a:off x="8001000" y="1847088"/>
            <a:ext cx="594360" cy="237744"/>
          </a:xfrm>
          <a:prstGeom prst="roundRect">
            <a:avLst>
              <a:gd name="adj" fmla="val 30769"/>
            </a:avLst>
          </a:prstGeom>
          <a:solidFill>
            <a:schemeClr val="accent3"/>
          </a:solidFill>
          <a:ln w="12700">
            <a:solidFill>
              <a:schemeClr val="accent3"/>
            </a:solidFill>
            <a:prstDash val="solid"/>
          </a:ln>
        </p:spPr>
      </p:sp>
      <p:sp>
        <p:nvSpPr>
          <p:cNvPr id="18" name="Text 16"/>
          <p:cNvSpPr txBox="1"/>
          <p:nvPr/>
        </p:nvSpPr>
        <p:spPr>
          <a:xfrm>
            <a:off x="8001000" y="1847088"/>
            <a:ext cx="594360" cy="237744"/>
          </a:xfrm>
          <a:prstGeom prst="rect">
            <a:avLst/>
          </a:prstGeom>
          <a:noFill/>
          <a:ln/>
        </p:spPr>
        <p:txBody>
          <a:bodyPr wrap="square" lIns="0" tIns="0" rIns="0" bIns="0" rtlCol="0" anchor="ctr"/>
          <a:lstStyle/>
          <a:p>
            <a:pPr algn="ctr" indent="0" marL="0">
              <a:buNone/>
            </a:pPr>
            <a:r>
              <a:rPr lang="en-US" sz="1000" b="1" dirty="0">
                <a:solidFill>
                  <a:schemeClr val="tx1"/>
                </a:solidFill>
              </a:rPr>
              <a:t>PASS</a:t>
            </a:r>
            <a:endParaRPr lang="en-US" sz="1000" dirty="0"/>
          </a:p>
        </p:txBody>
      </p:sp>
      <p:sp>
        <p:nvSpPr>
          <p:cNvPr id="19" name="Test row 3"/>
          <p:cNvSpPr/>
          <p:nvPr/>
        </p:nvSpPr>
        <p:spPr>
          <a:xfrm>
            <a:off x="3703320" y="2176272"/>
            <a:ext cx="4983480" cy="310896"/>
          </a:xfrm>
          <a:prstGeom prst="roundRect">
            <a:avLst>
              <a:gd name="adj" fmla="val 23529"/>
            </a:avLst>
          </a:prstGeom>
          <a:solidFill>
            <a:schemeClr val="bg2"/>
          </a:solidFill>
          <a:ln w="12700">
            <a:solidFill>
              <a:schemeClr val="bg2"/>
            </a:solidFill>
            <a:prstDash val="solid"/>
          </a:ln>
        </p:spPr>
      </p:sp>
      <p:sp>
        <p:nvSpPr>
          <p:cNvPr id="20" name="Text 18"/>
          <p:cNvSpPr txBox="1"/>
          <p:nvPr/>
        </p:nvSpPr>
        <p:spPr>
          <a:xfrm>
            <a:off x="3822192" y="2176272"/>
            <a:ext cx="594360" cy="310896"/>
          </a:xfrm>
          <a:prstGeom prst="rect">
            <a:avLst/>
          </a:prstGeom>
          <a:noFill/>
          <a:ln/>
        </p:spPr>
        <p:txBody>
          <a:bodyPr wrap="square" lIns="0" tIns="0" rIns="0" bIns="0" rtlCol="0" anchor="ctr"/>
          <a:lstStyle/>
          <a:p>
            <a:pPr algn="l" indent="0" marL="0">
              <a:buNone/>
            </a:pPr>
            <a:r>
              <a:rPr lang="en-US" sz="1200" b="1" dirty="0">
                <a:solidFill>
                  <a:schemeClr val="accent2"/>
                </a:solidFill>
              </a:rPr>
              <a:t>TC-11</a:t>
            </a:r>
            <a:endParaRPr lang="en-US" sz="1200" dirty="0"/>
          </a:p>
        </p:txBody>
      </p:sp>
      <p:sp>
        <p:nvSpPr>
          <p:cNvPr id="21" name="Text 19"/>
          <p:cNvSpPr txBox="1"/>
          <p:nvPr/>
        </p:nvSpPr>
        <p:spPr>
          <a:xfrm>
            <a:off x="4480560" y="2176272"/>
            <a:ext cx="3291840" cy="310896"/>
          </a:xfrm>
          <a:prstGeom prst="rect">
            <a:avLst/>
          </a:prstGeom>
          <a:noFill/>
          <a:ln/>
        </p:spPr>
        <p:txBody>
          <a:bodyPr wrap="square" lIns="0" tIns="0" rIns="0" bIns="0" rtlCol="0" anchor="ctr"/>
          <a:lstStyle/>
          <a:p>
            <a:pPr algn="l" indent="0" marL="0">
              <a:buNone/>
            </a:pPr>
            <a:r>
              <a:rPr lang="en-US" sz="1200" dirty="0">
                <a:solidFill>
                  <a:schemeClr val="tx1"/>
                </a:solidFill>
              </a:rPr>
              <a:t>Smart match finds candidate pairs</a:t>
            </a:r>
            <a:endParaRPr lang="en-US" sz="1200" dirty="0"/>
          </a:p>
        </p:txBody>
      </p:sp>
      <p:sp>
        <p:nvSpPr>
          <p:cNvPr id="22" name="Pass chip 3"/>
          <p:cNvSpPr/>
          <p:nvPr/>
        </p:nvSpPr>
        <p:spPr>
          <a:xfrm>
            <a:off x="8001000" y="2212848"/>
            <a:ext cx="594360" cy="237744"/>
          </a:xfrm>
          <a:prstGeom prst="roundRect">
            <a:avLst>
              <a:gd name="adj" fmla="val 30769"/>
            </a:avLst>
          </a:prstGeom>
          <a:solidFill>
            <a:schemeClr val="accent3"/>
          </a:solidFill>
          <a:ln w="12700">
            <a:solidFill>
              <a:schemeClr val="accent3"/>
            </a:solidFill>
            <a:prstDash val="solid"/>
          </a:ln>
        </p:spPr>
      </p:sp>
      <p:sp>
        <p:nvSpPr>
          <p:cNvPr id="23" name="Text 21"/>
          <p:cNvSpPr txBox="1"/>
          <p:nvPr/>
        </p:nvSpPr>
        <p:spPr>
          <a:xfrm>
            <a:off x="8001000" y="2212848"/>
            <a:ext cx="594360" cy="237744"/>
          </a:xfrm>
          <a:prstGeom prst="rect">
            <a:avLst/>
          </a:prstGeom>
          <a:noFill/>
          <a:ln/>
        </p:spPr>
        <p:txBody>
          <a:bodyPr wrap="square" lIns="0" tIns="0" rIns="0" bIns="0" rtlCol="0" anchor="ctr"/>
          <a:lstStyle/>
          <a:p>
            <a:pPr algn="ctr" indent="0" marL="0">
              <a:buNone/>
            </a:pPr>
            <a:r>
              <a:rPr lang="en-US" sz="1000" b="1" dirty="0">
                <a:solidFill>
                  <a:schemeClr val="tx1"/>
                </a:solidFill>
              </a:rPr>
              <a:t>PASS</a:t>
            </a:r>
            <a:endParaRPr lang="en-US" sz="1000" dirty="0"/>
          </a:p>
        </p:txBody>
      </p:sp>
      <p:sp>
        <p:nvSpPr>
          <p:cNvPr id="24" name="Test row 4"/>
          <p:cNvSpPr/>
          <p:nvPr/>
        </p:nvSpPr>
        <p:spPr>
          <a:xfrm>
            <a:off x="3703320" y="2542032"/>
            <a:ext cx="4983480" cy="310896"/>
          </a:xfrm>
          <a:prstGeom prst="roundRect">
            <a:avLst>
              <a:gd name="adj" fmla="val 23529"/>
            </a:avLst>
          </a:prstGeom>
          <a:solidFill>
            <a:schemeClr val="bg2"/>
          </a:solidFill>
          <a:ln w="12700">
            <a:solidFill>
              <a:schemeClr val="bg2"/>
            </a:solidFill>
            <a:prstDash val="solid"/>
          </a:ln>
        </p:spPr>
      </p:sp>
      <p:sp>
        <p:nvSpPr>
          <p:cNvPr id="25" name="Text 23"/>
          <p:cNvSpPr txBox="1"/>
          <p:nvPr/>
        </p:nvSpPr>
        <p:spPr>
          <a:xfrm>
            <a:off x="3822192" y="2542032"/>
            <a:ext cx="594360" cy="310896"/>
          </a:xfrm>
          <a:prstGeom prst="rect">
            <a:avLst/>
          </a:prstGeom>
          <a:noFill/>
          <a:ln/>
        </p:spPr>
        <p:txBody>
          <a:bodyPr wrap="square" lIns="0" tIns="0" rIns="0" bIns="0" rtlCol="0" anchor="ctr"/>
          <a:lstStyle/>
          <a:p>
            <a:pPr algn="l" indent="0" marL="0">
              <a:buNone/>
            </a:pPr>
            <a:r>
              <a:rPr lang="en-US" sz="1200" b="1" dirty="0">
                <a:solidFill>
                  <a:schemeClr val="accent2"/>
                </a:solidFill>
              </a:rPr>
              <a:t>TC-15</a:t>
            </a:r>
            <a:endParaRPr lang="en-US" sz="1200" dirty="0"/>
          </a:p>
        </p:txBody>
      </p:sp>
      <p:sp>
        <p:nvSpPr>
          <p:cNvPr id="26" name="Text 24"/>
          <p:cNvSpPr txBox="1"/>
          <p:nvPr/>
        </p:nvSpPr>
        <p:spPr>
          <a:xfrm>
            <a:off x="4480560" y="2542032"/>
            <a:ext cx="3291840" cy="310896"/>
          </a:xfrm>
          <a:prstGeom prst="rect">
            <a:avLst/>
          </a:prstGeom>
          <a:noFill/>
          <a:ln/>
        </p:spPr>
        <p:txBody>
          <a:bodyPr wrap="square" lIns="0" tIns="0" rIns="0" bIns="0" rtlCol="0" anchor="ctr"/>
          <a:lstStyle/>
          <a:p>
            <a:pPr algn="l" indent="0" marL="0">
              <a:buNone/>
            </a:pPr>
            <a:r>
              <a:rPr lang="en-US" sz="1200" dirty="0">
                <a:solidFill>
                  <a:schemeClr val="tx1"/>
                </a:solidFill>
              </a:rPr>
              <a:t>SQL injection input stored as plain data</a:t>
            </a:r>
            <a:endParaRPr lang="en-US" sz="1200" dirty="0"/>
          </a:p>
        </p:txBody>
      </p:sp>
      <p:sp>
        <p:nvSpPr>
          <p:cNvPr id="27" name="Pass chip 4"/>
          <p:cNvSpPr/>
          <p:nvPr/>
        </p:nvSpPr>
        <p:spPr>
          <a:xfrm>
            <a:off x="8001000" y="2578608"/>
            <a:ext cx="594360" cy="237744"/>
          </a:xfrm>
          <a:prstGeom prst="roundRect">
            <a:avLst>
              <a:gd name="adj" fmla="val 30769"/>
            </a:avLst>
          </a:prstGeom>
          <a:solidFill>
            <a:schemeClr val="accent3"/>
          </a:solidFill>
          <a:ln w="12700">
            <a:solidFill>
              <a:schemeClr val="accent3"/>
            </a:solidFill>
            <a:prstDash val="solid"/>
          </a:ln>
        </p:spPr>
      </p:sp>
      <p:sp>
        <p:nvSpPr>
          <p:cNvPr id="28" name="Text 26"/>
          <p:cNvSpPr txBox="1"/>
          <p:nvPr/>
        </p:nvSpPr>
        <p:spPr>
          <a:xfrm>
            <a:off x="8001000" y="2578608"/>
            <a:ext cx="594360" cy="237744"/>
          </a:xfrm>
          <a:prstGeom prst="rect">
            <a:avLst/>
          </a:prstGeom>
          <a:noFill/>
          <a:ln/>
        </p:spPr>
        <p:txBody>
          <a:bodyPr wrap="square" lIns="0" tIns="0" rIns="0" bIns="0" rtlCol="0" anchor="ctr"/>
          <a:lstStyle/>
          <a:p>
            <a:pPr algn="ctr" indent="0" marL="0">
              <a:buNone/>
            </a:pPr>
            <a:r>
              <a:rPr lang="en-US" sz="1000" b="1" dirty="0">
                <a:solidFill>
                  <a:schemeClr val="tx1"/>
                </a:solidFill>
              </a:rPr>
              <a:t>PASS</a:t>
            </a:r>
            <a:endParaRPr lang="en-US" sz="1000" dirty="0"/>
          </a:p>
        </p:txBody>
      </p:sp>
      <p:sp>
        <p:nvSpPr>
          <p:cNvPr id="29" name="Test row 5"/>
          <p:cNvSpPr/>
          <p:nvPr/>
        </p:nvSpPr>
        <p:spPr>
          <a:xfrm>
            <a:off x="3703320" y="2907792"/>
            <a:ext cx="4983480" cy="310896"/>
          </a:xfrm>
          <a:prstGeom prst="roundRect">
            <a:avLst>
              <a:gd name="adj" fmla="val 23529"/>
            </a:avLst>
          </a:prstGeom>
          <a:solidFill>
            <a:schemeClr val="bg2"/>
          </a:solidFill>
          <a:ln w="12700">
            <a:solidFill>
              <a:schemeClr val="bg2"/>
            </a:solidFill>
            <a:prstDash val="solid"/>
          </a:ln>
        </p:spPr>
      </p:sp>
      <p:sp>
        <p:nvSpPr>
          <p:cNvPr id="30" name="Text 28"/>
          <p:cNvSpPr txBox="1"/>
          <p:nvPr/>
        </p:nvSpPr>
        <p:spPr>
          <a:xfrm>
            <a:off x="3822192" y="2907792"/>
            <a:ext cx="594360" cy="310896"/>
          </a:xfrm>
          <a:prstGeom prst="rect">
            <a:avLst/>
          </a:prstGeom>
          <a:noFill/>
          <a:ln/>
        </p:spPr>
        <p:txBody>
          <a:bodyPr wrap="square" lIns="0" tIns="0" rIns="0" bIns="0" rtlCol="0" anchor="ctr"/>
          <a:lstStyle/>
          <a:p>
            <a:pPr algn="l" indent="0" marL="0">
              <a:buNone/>
            </a:pPr>
            <a:r>
              <a:rPr lang="en-US" sz="1200" b="1" dirty="0">
                <a:solidFill>
                  <a:schemeClr val="accent2"/>
                </a:solidFill>
              </a:rPr>
              <a:t>TC-17</a:t>
            </a:r>
            <a:endParaRPr lang="en-US" sz="1200" dirty="0"/>
          </a:p>
        </p:txBody>
      </p:sp>
      <p:sp>
        <p:nvSpPr>
          <p:cNvPr id="31" name="Text 29"/>
          <p:cNvSpPr txBox="1"/>
          <p:nvPr/>
        </p:nvSpPr>
        <p:spPr>
          <a:xfrm>
            <a:off x="4480560" y="2907792"/>
            <a:ext cx="3291840" cy="310896"/>
          </a:xfrm>
          <a:prstGeom prst="rect">
            <a:avLst/>
          </a:prstGeom>
          <a:noFill/>
          <a:ln/>
        </p:spPr>
        <p:txBody>
          <a:bodyPr wrap="square" lIns="0" tIns="0" rIns="0" bIns="0" rtlCol="0" anchor="ctr"/>
          <a:lstStyle/>
          <a:p>
            <a:pPr algn="l" indent="0" marL="0">
              <a:buNone/>
            </a:pPr>
            <a:r>
              <a:rPr lang="en-US" sz="1200" dirty="0">
                <a:solidFill>
                  <a:schemeClr val="tx1"/>
                </a:solidFill>
              </a:rPr>
              <a:t>DB connection closed on window close</a:t>
            </a:r>
            <a:endParaRPr lang="en-US" sz="1200" dirty="0"/>
          </a:p>
        </p:txBody>
      </p:sp>
      <p:sp>
        <p:nvSpPr>
          <p:cNvPr id="32" name="Pass chip 5"/>
          <p:cNvSpPr/>
          <p:nvPr/>
        </p:nvSpPr>
        <p:spPr>
          <a:xfrm>
            <a:off x="8001000" y="2944368"/>
            <a:ext cx="594360" cy="237744"/>
          </a:xfrm>
          <a:prstGeom prst="roundRect">
            <a:avLst>
              <a:gd name="adj" fmla="val 30769"/>
            </a:avLst>
          </a:prstGeom>
          <a:solidFill>
            <a:schemeClr val="accent3"/>
          </a:solidFill>
          <a:ln w="12700">
            <a:solidFill>
              <a:schemeClr val="accent3"/>
            </a:solidFill>
            <a:prstDash val="solid"/>
          </a:ln>
        </p:spPr>
      </p:sp>
      <p:sp>
        <p:nvSpPr>
          <p:cNvPr id="33" name="Text 31"/>
          <p:cNvSpPr txBox="1"/>
          <p:nvPr/>
        </p:nvSpPr>
        <p:spPr>
          <a:xfrm>
            <a:off x="8001000" y="2944368"/>
            <a:ext cx="594360" cy="237744"/>
          </a:xfrm>
          <a:prstGeom prst="rect">
            <a:avLst/>
          </a:prstGeom>
          <a:noFill/>
          <a:ln/>
        </p:spPr>
        <p:txBody>
          <a:bodyPr wrap="square" lIns="0" tIns="0" rIns="0" bIns="0" rtlCol="0" anchor="ctr"/>
          <a:lstStyle/>
          <a:p>
            <a:pPr algn="ctr" indent="0" marL="0">
              <a:buNone/>
            </a:pPr>
            <a:r>
              <a:rPr lang="en-US" sz="1000" b="1" dirty="0">
                <a:solidFill>
                  <a:schemeClr val="tx1"/>
                </a:solidFill>
              </a:rPr>
              <a:t>PASS</a:t>
            </a:r>
            <a:endParaRPr lang="en-US" sz="1000" dirty="0"/>
          </a:p>
        </p:txBody>
      </p:sp>
      <p:sp>
        <p:nvSpPr>
          <p:cNvPr id="34" name="Test row 6"/>
          <p:cNvSpPr/>
          <p:nvPr/>
        </p:nvSpPr>
        <p:spPr>
          <a:xfrm>
            <a:off x="3703320" y="3273552"/>
            <a:ext cx="4983480" cy="310896"/>
          </a:xfrm>
          <a:prstGeom prst="roundRect">
            <a:avLst>
              <a:gd name="adj" fmla="val 23529"/>
            </a:avLst>
          </a:prstGeom>
          <a:solidFill>
            <a:schemeClr val="bg2"/>
          </a:solidFill>
          <a:ln w="12700">
            <a:solidFill>
              <a:schemeClr val="bg2"/>
            </a:solidFill>
            <a:prstDash val="solid"/>
          </a:ln>
        </p:spPr>
      </p:sp>
      <p:sp>
        <p:nvSpPr>
          <p:cNvPr id="35" name="Text 33"/>
          <p:cNvSpPr txBox="1"/>
          <p:nvPr/>
        </p:nvSpPr>
        <p:spPr>
          <a:xfrm>
            <a:off x="3822192" y="3273552"/>
            <a:ext cx="594360" cy="310896"/>
          </a:xfrm>
          <a:prstGeom prst="rect">
            <a:avLst/>
          </a:prstGeom>
          <a:noFill/>
          <a:ln/>
        </p:spPr>
        <p:txBody>
          <a:bodyPr wrap="square" lIns="0" tIns="0" rIns="0" bIns="0" rtlCol="0" anchor="ctr"/>
          <a:lstStyle/>
          <a:p>
            <a:pPr algn="l" indent="0" marL="0">
              <a:buNone/>
            </a:pPr>
            <a:r>
              <a:rPr lang="en-US" sz="1200" b="1" dirty="0">
                <a:solidFill>
                  <a:schemeClr val="accent2"/>
                </a:solidFill>
              </a:rPr>
              <a:t>TC-19</a:t>
            </a:r>
            <a:endParaRPr lang="en-US" sz="1200" dirty="0"/>
          </a:p>
        </p:txBody>
      </p:sp>
      <p:sp>
        <p:nvSpPr>
          <p:cNvPr id="36" name="Text 34"/>
          <p:cNvSpPr txBox="1"/>
          <p:nvPr/>
        </p:nvSpPr>
        <p:spPr>
          <a:xfrm>
            <a:off x="4480560" y="3273552"/>
            <a:ext cx="3291840" cy="310896"/>
          </a:xfrm>
          <a:prstGeom prst="rect">
            <a:avLst/>
          </a:prstGeom>
          <a:noFill/>
          <a:ln/>
        </p:spPr>
        <p:txBody>
          <a:bodyPr wrap="square" lIns="0" tIns="0" rIns="0" bIns="0" rtlCol="0" anchor="ctr"/>
          <a:lstStyle/>
          <a:p>
            <a:pPr algn="l" indent="0" marL="0">
              <a:buNone/>
            </a:pPr>
            <a:r>
              <a:rPr lang="en-US" sz="1200" dirty="0">
                <a:solidFill>
                  <a:schemeClr val="tx1"/>
                </a:solidFill>
              </a:rPr>
              <a:t>Auto-reconnect after network drop</a:t>
            </a:r>
            <a:endParaRPr lang="en-US" sz="1200" dirty="0"/>
          </a:p>
        </p:txBody>
      </p:sp>
      <p:sp>
        <p:nvSpPr>
          <p:cNvPr id="37" name="Pass chip 6"/>
          <p:cNvSpPr/>
          <p:nvPr/>
        </p:nvSpPr>
        <p:spPr>
          <a:xfrm>
            <a:off x="8001000" y="3310128"/>
            <a:ext cx="594360" cy="237744"/>
          </a:xfrm>
          <a:prstGeom prst="roundRect">
            <a:avLst>
              <a:gd name="adj" fmla="val 30769"/>
            </a:avLst>
          </a:prstGeom>
          <a:solidFill>
            <a:schemeClr val="accent3"/>
          </a:solidFill>
          <a:ln w="12700">
            <a:solidFill>
              <a:schemeClr val="accent3"/>
            </a:solidFill>
            <a:prstDash val="solid"/>
          </a:ln>
        </p:spPr>
      </p:sp>
      <p:sp>
        <p:nvSpPr>
          <p:cNvPr id="38" name="Text 36"/>
          <p:cNvSpPr txBox="1"/>
          <p:nvPr/>
        </p:nvSpPr>
        <p:spPr>
          <a:xfrm>
            <a:off x="8001000" y="3310128"/>
            <a:ext cx="594360" cy="237744"/>
          </a:xfrm>
          <a:prstGeom prst="rect">
            <a:avLst/>
          </a:prstGeom>
          <a:noFill/>
          <a:ln/>
        </p:spPr>
        <p:txBody>
          <a:bodyPr wrap="square" lIns="0" tIns="0" rIns="0" bIns="0" rtlCol="0" anchor="ctr"/>
          <a:lstStyle/>
          <a:p>
            <a:pPr algn="ctr" indent="0" marL="0">
              <a:buNone/>
            </a:pPr>
            <a:r>
              <a:rPr lang="en-US" sz="1000" b="1" dirty="0">
                <a:solidFill>
                  <a:schemeClr val="tx1"/>
                </a:solidFill>
              </a:rPr>
              <a:t>PASS</a:t>
            </a:r>
            <a:endParaRPr lang="en-US" sz="1000" dirty="0"/>
          </a:p>
        </p:txBody>
      </p:sp>
      <p:sp>
        <p:nvSpPr>
          <p:cNvPr id="39" name="Text 37"/>
          <p:cNvSpPr txBox="1"/>
          <p:nvPr/>
        </p:nvSpPr>
        <p:spPr>
          <a:xfrm>
            <a:off x="3703320" y="3703320"/>
            <a:ext cx="4937760" cy="201168"/>
          </a:xfrm>
          <a:prstGeom prst="rect">
            <a:avLst/>
          </a:prstGeom>
          <a:noFill/>
          <a:ln/>
        </p:spPr>
        <p:txBody>
          <a:bodyPr wrap="square" lIns="0" tIns="0" rIns="0" bIns="0" rtlCol="0" anchor="t"/>
          <a:lstStyle/>
          <a:p>
            <a:pPr algn="l" indent="0" marL="0">
              <a:buNone/>
            </a:pPr>
            <a:r>
              <a:rPr lang="en-US" sz="1100" b="1" dirty="0">
                <a:solidFill>
                  <a:schemeClr val="accent2"/>
                </a:solidFill>
              </a:rPr>
              <a:t>DELIVERABLES</a:t>
            </a:r>
            <a:endParaRPr lang="en-US" sz="1100" dirty="0"/>
          </a:p>
        </p:txBody>
      </p:sp>
      <p:sp>
        <p:nvSpPr>
          <p:cNvPr id="40" name="Deliverable chip 1"/>
          <p:cNvSpPr/>
          <p:nvPr/>
        </p:nvSpPr>
        <p:spPr>
          <a:xfrm>
            <a:off x="3703320" y="3950208"/>
            <a:ext cx="1600200" cy="310896"/>
          </a:xfrm>
          <a:prstGeom prst="roundRect">
            <a:avLst>
              <a:gd name="adj" fmla="val 23529"/>
            </a:avLst>
          </a:prstGeom>
          <a:solidFill>
            <a:schemeClr val="tx1"/>
          </a:solidFill>
          <a:ln w="12700">
            <a:solidFill>
              <a:schemeClr val="tx1"/>
            </a:solidFill>
            <a:prstDash val="solid"/>
          </a:ln>
        </p:spPr>
      </p:sp>
      <p:sp>
        <p:nvSpPr>
          <p:cNvPr id="41" name="Text 39"/>
          <p:cNvSpPr txBox="1"/>
          <p:nvPr/>
        </p:nvSpPr>
        <p:spPr>
          <a:xfrm>
            <a:off x="3703320" y="3950208"/>
            <a:ext cx="1600200" cy="310896"/>
          </a:xfrm>
          <a:prstGeom prst="rect">
            <a:avLst/>
          </a:prstGeom>
          <a:noFill/>
          <a:ln/>
        </p:spPr>
        <p:txBody>
          <a:bodyPr wrap="square" lIns="0" tIns="0" rIns="0" bIns="0" rtlCol="0" anchor="ctr"/>
          <a:lstStyle/>
          <a:p>
            <a:pPr algn="ctr" indent="0" marL="0">
              <a:buNone/>
            </a:pPr>
            <a:r>
              <a:rPr lang="en-US" sz="1100" b="1" dirty="0">
                <a:solidFill>
                  <a:schemeClr val="bg1"/>
                </a:solidFill>
              </a:rPr>
              <a:t>Project Report</a:t>
            </a:r>
            <a:endParaRPr lang="en-US" sz="1100" dirty="0"/>
          </a:p>
        </p:txBody>
      </p:sp>
      <p:sp>
        <p:nvSpPr>
          <p:cNvPr id="42" name="Deliverable chip 2"/>
          <p:cNvSpPr/>
          <p:nvPr/>
        </p:nvSpPr>
        <p:spPr>
          <a:xfrm>
            <a:off x="5394960" y="3950208"/>
            <a:ext cx="1600200" cy="310896"/>
          </a:xfrm>
          <a:prstGeom prst="roundRect">
            <a:avLst>
              <a:gd name="adj" fmla="val 23529"/>
            </a:avLst>
          </a:prstGeom>
          <a:solidFill>
            <a:schemeClr val="tx1"/>
          </a:solidFill>
          <a:ln w="12700">
            <a:solidFill>
              <a:schemeClr val="tx1"/>
            </a:solidFill>
            <a:prstDash val="solid"/>
          </a:ln>
        </p:spPr>
      </p:sp>
      <p:sp>
        <p:nvSpPr>
          <p:cNvPr id="43" name="Text 41"/>
          <p:cNvSpPr txBox="1"/>
          <p:nvPr/>
        </p:nvSpPr>
        <p:spPr>
          <a:xfrm>
            <a:off x="5394960" y="3950208"/>
            <a:ext cx="1600200" cy="310896"/>
          </a:xfrm>
          <a:prstGeom prst="rect">
            <a:avLst/>
          </a:prstGeom>
          <a:noFill/>
          <a:ln/>
        </p:spPr>
        <p:txBody>
          <a:bodyPr wrap="square" lIns="0" tIns="0" rIns="0" bIns="0" rtlCol="0" anchor="ctr"/>
          <a:lstStyle/>
          <a:p>
            <a:pPr algn="ctr" indent="0" marL="0">
              <a:buNone/>
            </a:pPr>
            <a:r>
              <a:rPr lang="en-US" sz="1100" b="1" dirty="0">
                <a:solidFill>
                  <a:schemeClr val="bg1"/>
                </a:solidFill>
              </a:rPr>
              <a:t>SRS (16 FRs)</a:t>
            </a:r>
            <a:endParaRPr lang="en-US" sz="1100" dirty="0"/>
          </a:p>
        </p:txBody>
      </p:sp>
      <p:sp>
        <p:nvSpPr>
          <p:cNvPr id="44" name="Deliverable chip 3"/>
          <p:cNvSpPr/>
          <p:nvPr/>
        </p:nvSpPr>
        <p:spPr>
          <a:xfrm>
            <a:off x="7086600" y="3950208"/>
            <a:ext cx="1600200" cy="310896"/>
          </a:xfrm>
          <a:prstGeom prst="roundRect">
            <a:avLst>
              <a:gd name="adj" fmla="val 23529"/>
            </a:avLst>
          </a:prstGeom>
          <a:solidFill>
            <a:schemeClr val="tx1"/>
          </a:solidFill>
          <a:ln w="12700">
            <a:solidFill>
              <a:schemeClr val="tx1"/>
            </a:solidFill>
            <a:prstDash val="solid"/>
          </a:ln>
        </p:spPr>
      </p:sp>
      <p:sp>
        <p:nvSpPr>
          <p:cNvPr id="45" name="Text 43"/>
          <p:cNvSpPr txBox="1"/>
          <p:nvPr/>
        </p:nvSpPr>
        <p:spPr>
          <a:xfrm>
            <a:off x="7086600" y="3950208"/>
            <a:ext cx="1600200" cy="310896"/>
          </a:xfrm>
          <a:prstGeom prst="rect">
            <a:avLst/>
          </a:prstGeom>
          <a:noFill/>
          <a:ln/>
        </p:spPr>
        <p:txBody>
          <a:bodyPr wrap="square" lIns="0" tIns="0" rIns="0" bIns="0" rtlCol="0" anchor="ctr"/>
          <a:lstStyle/>
          <a:p>
            <a:pPr algn="ctr" indent="0" marL="0">
              <a:buNone/>
            </a:pPr>
            <a:r>
              <a:rPr lang="en-US" sz="1100" b="1" dirty="0">
                <a:solidFill>
                  <a:schemeClr val="bg1"/>
                </a:solidFill>
              </a:rPr>
              <a:t>IEEE Research Paper</a:t>
            </a:r>
            <a:endParaRPr lang="en-US" sz="1100" dirty="0"/>
          </a:p>
        </p:txBody>
      </p:sp>
      <p:sp>
        <p:nvSpPr>
          <p:cNvPr id="46" name="Deliverable chip 4"/>
          <p:cNvSpPr/>
          <p:nvPr/>
        </p:nvSpPr>
        <p:spPr>
          <a:xfrm>
            <a:off x="3703320" y="4315968"/>
            <a:ext cx="1600200" cy="310896"/>
          </a:xfrm>
          <a:prstGeom prst="roundRect">
            <a:avLst>
              <a:gd name="adj" fmla="val 23529"/>
            </a:avLst>
          </a:prstGeom>
          <a:solidFill>
            <a:schemeClr val="tx1"/>
          </a:solidFill>
          <a:ln w="12700">
            <a:solidFill>
              <a:schemeClr val="tx1"/>
            </a:solidFill>
            <a:prstDash val="solid"/>
          </a:ln>
        </p:spPr>
      </p:sp>
      <p:sp>
        <p:nvSpPr>
          <p:cNvPr id="47" name="Text 45"/>
          <p:cNvSpPr txBox="1"/>
          <p:nvPr/>
        </p:nvSpPr>
        <p:spPr>
          <a:xfrm>
            <a:off x="3703320" y="4315968"/>
            <a:ext cx="1600200" cy="310896"/>
          </a:xfrm>
          <a:prstGeom prst="rect">
            <a:avLst/>
          </a:prstGeom>
          <a:noFill/>
          <a:ln/>
        </p:spPr>
        <p:txBody>
          <a:bodyPr wrap="square" lIns="0" tIns="0" rIns="0" bIns="0" rtlCol="0" anchor="ctr"/>
          <a:lstStyle/>
          <a:p>
            <a:pPr algn="ctr" indent="0" marL="0">
              <a:buNone/>
            </a:pPr>
            <a:r>
              <a:rPr lang="en-US" sz="1100" b="1" dirty="0">
                <a:solidFill>
                  <a:schemeClr val="bg1"/>
                </a:solidFill>
              </a:rPr>
              <a:t>Demo Video (~10 min)</a:t>
            </a:r>
            <a:endParaRPr lang="en-US" sz="1100" dirty="0"/>
          </a:p>
        </p:txBody>
      </p:sp>
      <p:sp>
        <p:nvSpPr>
          <p:cNvPr id="48" name="Deliverable chip 5"/>
          <p:cNvSpPr/>
          <p:nvPr/>
        </p:nvSpPr>
        <p:spPr>
          <a:xfrm>
            <a:off x="5394960" y="4315968"/>
            <a:ext cx="1600200" cy="310896"/>
          </a:xfrm>
          <a:prstGeom prst="roundRect">
            <a:avLst>
              <a:gd name="adj" fmla="val 23529"/>
            </a:avLst>
          </a:prstGeom>
          <a:solidFill>
            <a:schemeClr val="tx1"/>
          </a:solidFill>
          <a:ln w="12700">
            <a:solidFill>
              <a:schemeClr val="tx1"/>
            </a:solidFill>
            <a:prstDash val="solid"/>
          </a:ln>
        </p:spPr>
      </p:sp>
      <p:sp>
        <p:nvSpPr>
          <p:cNvPr id="49" name="Text 47"/>
          <p:cNvSpPr txBox="1"/>
          <p:nvPr/>
        </p:nvSpPr>
        <p:spPr>
          <a:xfrm>
            <a:off x="5394960" y="4315968"/>
            <a:ext cx="1600200" cy="310896"/>
          </a:xfrm>
          <a:prstGeom prst="rect">
            <a:avLst/>
          </a:prstGeom>
          <a:noFill/>
          <a:ln/>
        </p:spPr>
        <p:txBody>
          <a:bodyPr wrap="square" lIns="0" tIns="0" rIns="0" bIns="0" rtlCol="0" anchor="ctr"/>
          <a:lstStyle/>
          <a:p>
            <a:pPr algn="ctr" indent="0" marL="0">
              <a:buNone/>
            </a:pPr>
            <a:r>
              <a:rPr lang="en-US" sz="1100" b="1" dirty="0">
                <a:solidFill>
                  <a:schemeClr val="bg1"/>
                </a:solidFill>
              </a:rPr>
              <a:t>12-Week Dev Log</a:t>
            </a:r>
            <a:endParaRPr lang="en-US" sz="1100" dirty="0"/>
          </a:p>
        </p:txBody>
      </p:sp>
      <p:sp>
        <p:nvSpPr>
          <p:cNvPr id="50" name="Deliverable chip 6"/>
          <p:cNvSpPr/>
          <p:nvPr/>
        </p:nvSpPr>
        <p:spPr>
          <a:xfrm>
            <a:off x="7086600" y="4315968"/>
            <a:ext cx="1600200" cy="310896"/>
          </a:xfrm>
          <a:prstGeom prst="roundRect">
            <a:avLst>
              <a:gd name="adj" fmla="val 23529"/>
            </a:avLst>
          </a:prstGeom>
          <a:solidFill>
            <a:schemeClr val="tx1"/>
          </a:solidFill>
          <a:ln w="12700">
            <a:solidFill>
              <a:schemeClr val="tx1"/>
            </a:solidFill>
            <a:prstDash val="solid"/>
          </a:ln>
        </p:spPr>
      </p:sp>
      <p:sp>
        <p:nvSpPr>
          <p:cNvPr id="51" name="Text 49"/>
          <p:cNvSpPr txBox="1"/>
          <p:nvPr/>
        </p:nvSpPr>
        <p:spPr>
          <a:xfrm>
            <a:off x="7086600" y="4315968"/>
            <a:ext cx="1600200" cy="310896"/>
          </a:xfrm>
          <a:prstGeom prst="rect">
            <a:avLst/>
          </a:prstGeom>
          <a:noFill/>
          <a:ln/>
        </p:spPr>
        <p:txBody>
          <a:bodyPr wrap="square" lIns="0" tIns="0" rIns="0" bIns="0" rtlCol="0" anchor="ctr"/>
          <a:lstStyle/>
          <a:p>
            <a:pPr algn="ctr" indent="0" marL="0">
              <a:buNone/>
            </a:pPr>
            <a:r>
              <a:rPr lang="en-US" sz="1100" b="1" dirty="0">
                <a:solidFill>
                  <a:schemeClr val="bg1"/>
                </a:solidFill>
              </a:rPr>
              <a:t>Portable .exe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685800"/>
          </a:xfrm>
          <a:prstGeom prst="rect">
            <a:avLst/>
          </a:prstGeom>
          <a:noFill/>
          <a:ln/>
        </p:spPr>
        <p:txBody>
          <a:bodyPr wrap="square" lIns="0" tIns="0" rIns="0" bIns="0" rtlCol="0" anchor="ctr"/>
          <a:lstStyle/>
          <a:p>
            <a:pPr algn="l" indent="0" marL="0">
              <a:buNone/>
            </a:pPr>
            <a:r>
              <a:rPr lang="en-US" sz="3000" b="1" dirty="0">
                <a:solidFill>
                  <a:schemeClr val="bg1"/>
                </a:solidFill>
              </a:rPr>
              <a:t>Conclusion &amp; Future Scope</a:t>
            </a:r>
            <a:endParaRPr lang="en-US" sz="3000" dirty="0"/>
          </a:p>
        </p:txBody>
      </p:sp>
      <p:sp>
        <p:nvSpPr>
          <p:cNvPr id="3" name="Text 1"/>
          <p:cNvSpPr txBox="1"/>
          <p:nvPr/>
        </p:nvSpPr>
        <p:spPr>
          <a:xfrm>
            <a:off x="548640" y="1143000"/>
            <a:ext cx="4023360" cy="274320"/>
          </a:xfrm>
          <a:prstGeom prst="rect">
            <a:avLst/>
          </a:prstGeom>
          <a:noFill/>
          <a:ln/>
        </p:spPr>
        <p:txBody>
          <a:bodyPr wrap="square" lIns="0" tIns="0" rIns="0" bIns="0" rtlCol="0" anchor="t"/>
          <a:lstStyle/>
          <a:p>
            <a:pPr algn="l" indent="0" marL="0">
              <a:buNone/>
            </a:pPr>
            <a:r>
              <a:rPr lang="en-US" sz="1200" b="1" dirty="0">
                <a:solidFill>
                  <a:schemeClr val="accent1"/>
                </a:solidFill>
              </a:rPr>
              <a:t>CONCLUSION</a:t>
            </a:r>
            <a:endParaRPr lang="en-US" sz="1200" dirty="0"/>
          </a:p>
        </p:txBody>
      </p:sp>
      <p:sp>
        <p:nvSpPr>
          <p:cNvPr id="4" name="Text 2"/>
          <p:cNvSpPr txBox="1"/>
          <p:nvPr/>
        </p:nvSpPr>
        <p:spPr>
          <a:xfrm>
            <a:off x="548640" y="1463040"/>
            <a:ext cx="4023360" cy="219456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bg1"/>
                </a:solidFill>
              </a:rPr>
              <a:t>Replaces notice boards and chat groups with one structured, role-based workflow</a:t>
            </a:r>
            <a:endParaRPr lang="en-US" sz="1400" dirty="0"/>
          </a:p>
          <a:p>
            <a:pPr algn="l" marL="342900" indent="-342900">
              <a:spcAft>
                <a:spcPts val="800"/>
              </a:spcAft>
              <a:buSzPct val="100000"/>
              <a:buChar char="•"/>
            </a:pPr>
            <a:r>
              <a:rPr lang="en-US" sz="1400" dirty="0">
                <a:solidFill>
                  <a:schemeClr val="bg1"/>
                </a:solidFill>
              </a:rPr>
              <a:t>Verified approvals, claim tracking and a permanent audit trail</a:t>
            </a:r>
            <a:endParaRPr lang="en-US" sz="1400" dirty="0"/>
          </a:p>
          <a:p>
            <a:pPr algn="l" marL="342900" indent="-342900">
              <a:spcAft>
                <a:spcPts val="800"/>
              </a:spcAft>
              <a:buSzPct val="100000"/>
              <a:buChar char="•"/>
            </a:pPr>
            <a:r>
              <a:rPr lang="en-US" sz="1400" dirty="0">
                <a:solidFill>
                  <a:schemeClr val="bg1"/>
                </a:solidFill>
              </a:rPr>
              <a:t>Secure (parameterized SQL), tested (35/35) and portable (zero-install .exe)</a:t>
            </a:r>
            <a:endParaRPr lang="en-US" sz="1400" dirty="0"/>
          </a:p>
        </p:txBody>
      </p:sp>
      <p:sp>
        <p:nvSpPr>
          <p:cNvPr id="5" name="Future scope card"/>
          <p:cNvSpPr/>
          <p:nvPr/>
        </p:nvSpPr>
        <p:spPr>
          <a:xfrm>
            <a:off x="4846320" y="1143000"/>
            <a:ext cx="3840480" cy="2103120"/>
          </a:xfrm>
          <a:prstGeom prst="roundRect">
            <a:avLst>
              <a:gd name="adj" fmla="val 3478"/>
            </a:avLst>
          </a:prstGeom>
          <a:solidFill>
            <a:schemeClr val="tx2"/>
          </a:solidFill>
          <a:ln w="12700">
            <a:solidFill>
              <a:schemeClr val="tx2"/>
            </a:solidFill>
            <a:prstDash val="solid"/>
          </a:ln>
        </p:spPr>
      </p:sp>
      <p:sp>
        <p:nvSpPr>
          <p:cNvPr id="6" name="Text 4"/>
          <p:cNvSpPr txBox="1"/>
          <p:nvPr/>
        </p:nvSpPr>
        <p:spPr>
          <a:xfrm>
            <a:off x="5074920" y="1298448"/>
            <a:ext cx="3383280" cy="274320"/>
          </a:xfrm>
          <a:prstGeom prst="rect">
            <a:avLst/>
          </a:prstGeom>
          <a:noFill/>
          <a:ln/>
        </p:spPr>
        <p:txBody>
          <a:bodyPr wrap="square" lIns="0" tIns="0" rIns="0" bIns="0" rtlCol="0" anchor="t"/>
          <a:lstStyle/>
          <a:p>
            <a:pPr algn="l" indent="0" marL="0">
              <a:buNone/>
            </a:pPr>
            <a:r>
              <a:rPr lang="en-US" sz="1200" b="1" dirty="0">
                <a:solidFill>
                  <a:schemeClr val="accent1"/>
                </a:solidFill>
              </a:rPr>
              <a:t>FUTURE SCOPE</a:t>
            </a:r>
            <a:endParaRPr lang="en-US" sz="1200" dirty="0"/>
          </a:p>
        </p:txBody>
      </p:sp>
      <p:sp>
        <p:nvSpPr>
          <p:cNvPr id="7" name="Text 5"/>
          <p:cNvSpPr txBox="1"/>
          <p:nvPr/>
        </p:nvSpPr>
        <p:spPr>
          <a:xfrm>
            <a:off x="5074920" y="1645920"/>
            <a:ext cx="3429000" cy="192024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bg1"/>
                </a:solidFill>
              </a:rPr>
              <a:t>Photo upload and image-based matching</a:t>
            </a:r>
            <a:endParaRPr lang="en-US" sz="1400" dirty="0"/>
          </a:p>
          <a:p>
            <a:pPr algn="l" marL="342900" indent="-342900">
              <a:spcAft>
                <a:spcPts val="800"/>
              </a:spcAft>
              <a:buSzPct val="100000"/>
              <a:buChar char="•"/>
            </a:pPr>
            <a:r>
              <a:rPr lang="en-US" sz="1400" dirty="0">
                <a:solidFill>
                  <a:schemeClr val="bg1"/>
                </a:solidFill>
              </a:rPr>
              <a:t>Email / SMS alerts besides in-app notifications</a:t>
            </a:r>
            <a:endParaRPr lang="en-US" sz="1400" dirty="0"/>
          </a:p>
          <a:p>
            <a:pPr algn="l" marL="342900" indent="-342900">
              <a:spcAft>
                <a:spcPts val="800"/>
              </a:spcAft>
              <a:buSzPct val="100000"/>
              <a:buChar char="•"/>
            </a:pPr>
            <a:r>
              <a:rPr lang="en-US" sz="1400" dirty="0">
                <a:solidFill>
                  <a:schemeClr val="bg1"/>
                </a:solidFill>
              </a:rPr>
              <a:t>Web and mobile front end on the same database</a:t>
            </a:r>
            <a:endParaRPr lang="en-US" sz="1400" dirty="0"/>
          </a:p>
        </p:txBody>
      </p:sp>
      <p:sp>
        <p:nvSpPr>
          <p:cNvPr id="8" name="Text 6"/>
          <p:cNvSpPr txBox="1"/>
          <p:nvPr/>
        </p:nvSpPr>
        <p:spPr>
          <a:xfrm>
            <a:off x="548640" y="3840480"/>
            <a:ext cx="3108960" cy="548640"/>
          </a:xfrm>
          <a:prstGeom prst="rect">
            <a:avLst/>
          </a:prstGeom>
          <a:noFill/>
          <a:ln/>
        </p:spPr>
        <p:txBody>
          <a:bodyPr wrap="square" lIns="0" tIns="0" rIns="0" bIns="0" rtlCol="0" anchor="ctr"/>
          <a:lstStyle/>
          <a:p>
            <a:pPr algn="l" indent="0" marL="0">
              <a:buNone/>
            </a:pPr>
            <a:r>
              <a:rPr lang="en-US" sz="3200" b="1" dirty="0">
                <a:solidFill>
                  <a:schemeClr val="bg1"/>
                </a:solidFill>
              </a:rPr>
              <a:t>Thank You</a:t>
            </a:r>
            <a:endParaRPr lang="en-US" sz="3200" dirty="0"/>
          </a:p>
        </p:txBody>
      </p:sp>
      <p:sp>
        <p:nvSpPr>
          <p:cNvPr id="9" name="Text 7"/>
          <p:cNvSpPr txBox="1"/>
          <p:nvPr/>
        </p:nvSpPr>
        <p:spPr>
          <a:xfrm>
            <a:off x="548640" y="4389120"/>
            <a:ext cx="3108960" cy="274320"/>
          </a:xfrm>
          <a:prstGeom prst="rect">
            <a:avLst/>
          </a:prstGeom>
          <a:noFill/>
          <a:ln/>
        </p:spPr>
        <p:txBody>
          <a:bodyPr wrap="square" lIns="0" tIns="0" rIns="0" bIns="0" rtlCol="0" anchor="t"/>
          <a:lstStyle/>
          <a:p>
            <a:pPr algn="l" indent="0" marL="0">
              <a:buNone/>
            </a:pPr>
            <a:r>
              <a:rPr lang="en-US" sz="1400" dirty="0">
                <a:solidFill>
                  <a:schemeClr val="accent1"/>
                </a:solidFill>
              </a:rPr>
              <a:t>Questions &amp; Discussion</a:t>
            </a:r>
            <a:endParaRPr lang="en-US" sz="1400" dirty="0"/>
          </a:p>
        </p:txBody>
      </p:sp>
      <p:sp>
        <p:nvSpPr>
          <p:cNvPr id="10" name="Text 8"/>
          <p:cNvSpPr txBox="1"/>
          <p:nvPr/>
        </p:nvSpPr>
        <p:spPr>
          <a:xfrm>
            <a:off x="3931920" y="3840480"/>
            <a:ext cx="4754880" cy="822960"/>
          </a:xfrm>
          <a:prstGeom prst="rect">
            <a:avLst/>
          </a:prstGeom>
          <a:noFill/>
          <a:ln/>
        </p:spPr>
        <p:txBody>
          <a:bodyPr wrap="square" lIns="0" tIns="0" rIns="0" bIns="0" rtlCol="0" anchor="t"/>
          <a:lstStyle/>
          <a:p>
            <a:pPr algn="r" indent="0" marL="0">
              <a:spcAft>
                <a:spcPts val="300"/>
              </a:spcAft>
              <a:buNone/>
            </a:pPr>
            <a:r>
              <a:rPr lang="en-US" sz="1200" dirty="0">
                <a:solidFill>
                  <a:schemeClr val="accent6"/>
                </a:solidFill>
              </a:rPr>
              <a:t>Mitesh Nehra  |  Mohit Kumar Sharma  |  Naitik Pathak</a:t>
            </a:r>
            <a:endParaRPr lang="en-US" sz="1200" dirty="0"/>
          </a:p>
          <a:p>
            <a:pPr algn="r" indent="0" marL="0">
              <a:spcAft>
                <a:spcPts val="300"/>
              </a:spcAft>
              <a:buNone/>
            </a:pPr>
            <a:r>
              <a:rPr lang="en-US" sz="1200" dirty="0">
                <a:solidFill>
                  <a:schemeClr val="accent6"/>
                </a:solidFill>
              </a:rPr>
              <a:t>Paramveer Singh  |  Prabhash Kumar Chaudhary</a:t>
            </a:r>
            <a:endParaRPr lang="en-US" sz="1200" dirty="0"/>
          </a:p>
          <a:p>
            <a:pPr algn="r" indent="0" marL="0">
              <a:spcAft>
                <a:spcPts val="300"/>
              </a:spcAft>
              <a:buNone/>
            </a:pPr>
            <a:r>
              <a:rPr lang="en-US" sz="1200" dirty="0">
                <a:solidFill>
                  <a:schemeClr val="accent6"/>
                </a:solidFill>
              </a:rPr>
              <a:t>Guide: Er. Ram Babu Buri   |   HOD: Dr. Ashok Kajla</a:t>
            </a:r>
            <a:endParaRPr lang="en-US" sz="1200" dirty="0"/>
          </a:p>
        </p:txBody>
      </p:sp>
    </p:spTree>
  </p:cSld>
  <p:clrMapOvr>
    <a:masterClrMapping/>
  </p:clrMapOvr>
</p:sld>
</file>

<file path=ppt/theme/theme1.xml><?xml version="1.0" encoding="utf-8"?>
<a:theme xmlns:a="http://schemas.openxmlformats.org/drawingml/2006/main" name="Lost and Found Navy">
  <a:themeElements>
    <a:clrScheme name="Lost and Found Navy">
      <a:dk1>
        <a:srgbClr val="0A1A3A"/>
      </a:dk1>
      <a:lt1>
        <a:srgbClr val="FFFFFF"/>
      </a:lt1>
      <a:dk2>
        <a:srgbClr val="15294F"/>
      </a:dk2>
      <a:lt2>
        <a:srgbClr val="EEF3FB"/>
      </a:lt2>
      <a:accent1>
        <a:srgbClr val="1FB6E8"/>
      </a:accent1>
      <a:accent2>
        <a:srgbClr val="2F6BFF"/>
      </a:accent2>
      <a:accent3>
        <a:srgbClr val="2ECC71"/>
      </a:accent3>
      <a:accent4>
        <a:srgbClr val="F5A623"/>
      </a:accent4>
      <a:accent5>
        <a:srgbClr val="E74C3C"/>
      </a:accent5>
      <a:accent6>
        <a:srgbClr val="8FA3C7"/>
      </a:accent6>
      <a:hlink>
        <a:srgbClr val="2F6BFF"/>
      </a:hlink>
      <a:folHlink>
        <a:srgbClr val="8FA3C7"/>
      </a:folHlink>
    </a:clrScheme>
    <a:fontScheme name="Lost and Found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Lost &amp; Found System</dc:title>
  <dc:subject>PptxGenJS Presentation</dc:subject>
  <dc:creator>Team Smart Lost &amp; Found, ACEIT Jaipur</dc:creator>
  <cp:lastModifiedBy>Team Smart Lost &amp; Found, ACEIT Jaipur</cp:lastModifiedBy>
  <cp:revision>1</cp:revision>
  <dcterms:created xsi:type="dcterms:W3CDTF">2026-10-14T11:51:42Z</dcterms:created>
  <dcterms:modified xsi:type="dcterms:W3CDTF">2026-10-14T11:51:42Z</dcterms:modified>
</cp:coreProperties>
</file>